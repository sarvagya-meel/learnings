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5" r:id="rId4"/>
  </p:sldMasterIdLst>
  <p:notesMasterIdLst>
    <p:notesMasterId r:id="rId25"/>
  </p:notesMasterIdLst>
  <p:handoutMasterIdLst>
    <p:handoutMasterId r:id="rId26"/>
  </p:handoutMasterIdLst>
  <p:sldIdLst>
    <p:sldId id="283" r:id="rId5"/>
    <p:sldId id="256" r:id="rId6"/>
    <p:sldId id="257" r:id="rId7"/>
    <p:sldId id="274" r:id="rId8"/>
    <p:sldId id="271" r:id="rId9"/>
    <p:sldId id="272" r:id="rId10"/>
    <p:sldId id="273" r:id="rId11"/>
    <p:sldId id="287" r:id="rId12"/>
    <p:sldId id="266" r:id="rId13"/>
    <p:sldId id="282" r:id="rId14"/>
    <p:sldId id="259" r:id="rId15"/>
    <p:sldId id="286" r:id="rId16"/>
    <p:sldId id="285" r:id="rId17"/>
    <p:sldId id="279" r:id="rId18"/>
    <p:sldId id="262" r:id="rId19"/>
    <p:sldId id="280" r:id="rId20"/>
    <p:sldId id="281" r:id="rId21"/>
    <p:sldId id="265" r:id="rId22"/>
    <p:sldId id="270" r:id="rId23"/>
    <p:sldId id="275" r:id="rId24"/>
  </p:sldIdLst>
  <p:sldSz cx="12192000" cy="6858000"/>
  <p:notesSz cx="6858000" cy="9144000"/>
  <p:embeddedFontLs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Roboto Light" panose="02000000000000000000" pitchFamily="2" charset="0"/>
      <p:regular r:id="rId31"/>
      <p:italic r:id="rId32"/>
    </p:embeddedFont>
  </p:embeddedFontLst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fan Brown" initials="SB" lastIdx="3" clrIdx="0">
    <p:extLst>
      <p:ext uri="{19B8F6BF-5375-455C-9EA6-DF929625EA0E}">
        <p15:presenceInfo xmlns:p15="http://schemas.microsoft.com/office/powerpoint/2012/main" userId="S::stefan.brown@brightcarbon.com::252352bc-e6ff-405e-b10a-872912c68ef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1237"/>
    <a:srgbClr val="F2F7DD"/>
    <a:srgbClr val="E5EFBA"/>
    <a:srgbClr val="D7E798"/>
    <a:srgbClr val="CADF75"/>
    <a:srgbClr val="F9E4CF"/>
    <a:srgbClr val="F4C99E"/>
    <a:srgbClr val="EEAE6E"/>
    <a:srgbClr val="E9933D"/>
    <a:srgbClr val="D6D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0" autoAdjust="0"/>
    <p:restoredTop sz="96233" autoAdjust="0"/>
  </p:normalViewPr>
  <p:slideViewPr>
    <p:cSldViewPr>
      <p:cViewPr varScale="1">
        <p:scale>
          <a:sx n="104" d="100"/>
          <a:sy n="104" d="100"/>
        </p:scale>
        <p:origin x="232" y="5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990"/>
    </p:cViewPr>
  </p:sorterViewPr>
  <p:notesViewPr>
    <p:cSldViewPr>
      <p:cViewPr>
        <p:scale>
          <a:sx n="1" d="2"/>
          <a:sy n="1" d="2"/>
        </p:scale>
        <p:origin x="4939" y="1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9AC063-2D7A-ED18-C2D0-064AD67EEF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B67CA0-714F-AB37-0127-579E722D8D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59484-042F-4341-AC2F-E89BEEC92DA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890D98-A0A9-A7BC-7026-483D0C004FC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9A1E0-F4B6-60A1-B55A-A96DD092B1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915FE-3CBE-4FD7-9553-ED1BF3173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59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5E1E6DD5-C8D4-4939-804C-01E33A1BFBAC}" type="datetimeFigureOut">
              <a:rPr lang="en-US" smtClean="0"/>
              <a:pPr/>
              <a:t>2/24/26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5F7096F9-88FA-40C2-92F2-77E0F24D69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25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bedrock/pricin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aws.amazon.com/blogs/machine-learning/introducing-amazon-bedrock-agentcore-gateway-transforming-enterprise-ai-agent-tool-development/" TargetMode="External"/><Relationship Id="rId5" Type="http://schemas.openxmlformats.org/officeDocument/2006/relationships/hyperlink" Target="https://aws.github.io/bedrock-agentcore-starter-toolkit/user-guide/observability/quickstart.html" TargetMode="External"/><Relationship Id="rId4" Type="http://schemas.openxmlformats.org/officeDocument/2006/relationships/hyperlink" Target="https://aws.amazon.com/bedrock/agentcore/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“This slide shows why AgentCore is more than a single ‘agent feature’—it’s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modular platform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you can adopt incrementally. Each box is a service you can use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together or independently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depending on your agent maturity.”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3"/>
              </a:rPr>
              <a:t>[aws.amazon.com]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“At the center is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Runtime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—a secure, serverless place to run agents and tools with production needs like scaling and session isolation, so teams don’t have to build agent hosting infrastructure from scratch.”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3"/>
              </a:rPr>
              <a:t>[aws.amazon.com]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“Then you add capabilities around it: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Gateway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is how agents safely call enterprise tools—APIs, Lambda, or MCP tools—through a centralized endpoint. And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Policy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sits with Gateway to enforce rules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deterministically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by intercepting tool calls before execution—so control isn’t just ‘in the prompt.’”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3"/>
              </a:rPr>
              <a:t>[aws.amazon.com]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4"/>
              </a:rPr>
              <a:t>[aws.amazon.com]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“For better user experience,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gives agents short-term and long-term context and can support experience-based learning patterns, so the agent improves continuity across sessions.”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3"/>
              </a:rPr>
              <a:t>[aws.amazon.com]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4"/>
              </a:rPr>
              <a:t>[aws.amazon.com]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“For enterprise access,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Identity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integrates with existing identity providers, so agents can securely act on behalf of users without rewriting auth.”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5"/>
              </a:rPr>
              <a:t>[aws.github.io]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3"/>
              </a:rPr>
              <a:t>[aws.amazon.com]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“Finally, to operate this in production: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Observability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provides end-to-end tracing and monitoring via CloudWatch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OpenTelemetry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-compatible telemetry, and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Evaluations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helps continuously score quality—like correctness and safety—so we can measure performance and detect regressions.”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6"/>
              </a:rPr>
              <a:t>[aws.amazon.com]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4"/>
              </a:rPr>
              <a:t>[aws.amazon.com]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“Net-net: AgentCore provides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building blocks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to ship internal enterprise agents that are secure, governed, and measurable—without every team reinventing the platform.”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3"/>
              </a:rPr>
              <a:t>[aws.amazon.com]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  <a:hlinkClick r:id="rId4"/>
              </a:rPr>
              <a:t>[aws.amazon.com]</a:t>
            </a:r>
            <a:endParaRPr lang="en-US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096F9-88FA-40C2-92F2-77E0F24D698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051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Framework:</a:t>
            </a:r>
          </a:p>
          <a:p>
            <a:r>
              <a:rPr lang="en-US" dirty="0"/>
              <a:t>We can use existing </a:t>
            </a:r>
            <a:r>
              <a:rPr lang="en-US" dirty="0" err="1"/>
              <a:t>langchain</a:t>
            </a:r>
            <a:r>
              <a:rPr lang="en-US" dirty="0"/>
              <a:t> , </a:t>
            </a:r>
            <a:r>
              <a:rPr lang="en-US" dirty="0" err="1"/>
              <a:t>langGraph</a:t>
            </a:r>
            <a:r>
              <a:rPr lang="en-US" dirty="0"/>
              <a:t>, </a:t>
            </a:r>
            <a:r>
              <a:rPr lang="en-US" dirty="0" err="1"/>
              <a:t>CrewAI</a:t>
            </a:r>
            <a:r>
              <a:rPr lang="en-US" dirty="0"/>
              <a:t>, </a:t>
            </a:r>
            <a:r>
              <a:rPr lang="en-US" dirty="0" err="1"/>
              <a:t>deepAgents</a:t>
            </a:r>
            <a:r>
              <a:rPr lang="en-US" dirty="0"/>
              <a:t> knowledge from different team members</a:t>
            </a:r>
            <a:br>
              <a:rPr lang="en-US" dirty="0"/>
            </a:br>
            <a:endParaRPr lang="en-US" dirty="0"/>
          </a:p>
          <a:p>
            <a:r>
              <a:rPr lang="en-US" dirty="0"/>
              <a:t>Model</a:t>
            </a:r>
            <a:br>
              <a:rPr lang="en-US" dirty="0"/>
            </a:br>
            <a:r>
              <a:rPr lang="en-US" dirty="0" err="1"/>
              <a:t>Openai</a:t>
            </a:r>
            <a:r>
              <a:rPr lang="en-US" dirty="0"/>
              <a:t> for ask</a:t>
            </a:r>
            <a:br>
              <a:rPr lang="en-US" dirty="0"/>
            </a:br>
            <a:r>
              <a:rPr 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anthropic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claude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 </a:t>
            </a:r>
            <a:r>
              <a:rPr lang="en-US" dirty="0"/>
              <a:t>for </a:t>
            </a:r>
            <a:r>
              <a:rPr lang="en-US" dirty="0" err="1"/>
              <a:t>ms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096F9-88FA-40C2-92F2-77E0F24D698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51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096F9-88FA-40C2-92F2-77E0F24D6989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709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: Fade Fac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B87C5C8C-5465-B71B-B9FD-91C97FFBB9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578" t="-1" r="13209" b="34907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566928"/>
            <a:ext cx="7366000" cy="3909822"/>
          </a:xfrm>
        </p:spPr>
        <p:txBody>
          <a:bodyPr anchor="b">
            <a:normAutofit/>
          </a:bodyPr>
          <a:lstStyle>
            <a:lvl1pPr algn="l"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069" y="4785781"/>
            <a:ext cx="7362431" cy="1500719"/>
          </a:xfrm>
        </p:spPr>
        <p:txBody>
          <a:bodyPr anchor="t">
            <a:noAutofit/>
          </a:bodyPr>
          <a:lstStyle>
            <a:lvl1pPr marL="0" indent="0" algn="l">
              <a:buNone/>
              <a:defRPr sz="2400" spc="0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DF003-A33D-4D7D-46B7-8C91BCC6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0" y="6450138"/>
            <a:ext cx="7366000" cy="2713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1B26253-6029-0F9F-A848-7C33B1DFF9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219550"/>
            <a:ext cx="2496317" cy="111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12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ull-bleed Fac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black triangle pattern&#10;&#10;AI-generated content may be incorrect.">
            <a:extLst>
              <a:ext uri="{FF2B5EF4-FFF2-40B4-BE49-F238E27FC236}">
                <a16:creationId xmlns:a16="http://schemas.microsoft.com/office/drawing/2014/main" id="{E4FEA0D1-C362-2B79-B07B-FCACA12CDD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216" t="21911" r="18040" b="207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566928"/>
            <a:ext cx="7366000" cy="3909822"/>
          </a:xfrm>
        </p:spPr>
        <p:txBody>
          <a:bodyPr anchor="b">
            <a:normAutofit/>
          </a:bodyPr>
          <a:lstStyle>
            <a:lvl1pPr algn="l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069" y="4785781"/>
            <a:ext cx="7362431" cy="150071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DF003-A33D-4D7D-46B7-8C91BCC6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0" y="6450138"/>
            <a:ext cx="7366000" cy="2713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C996EAC-786A-4ABC-9EA4-4AEB93E536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219550"/>
            <a:ext cx="2496317" cy="111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35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lor overlay Fac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56F864D5-58EC-BFB7-0176-D292240EF6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" t="39095" r="33514" b="2386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566928"/>
            <a:ext cx="7366000" cy="3909822"/>
          </a:xfrm>
        </p:spPr>
        <p:txBody>
          <a:bodyPr anchor="b">
            <a:normAutofit/>
          </a:bodyPr>
          <a:lstStyle>
            <a:lvl1pPr algn="l"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069" y="4785781"/>
            <a:ext cx="7362431" cy="150071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DF003-A33D-4D7D-46B7-8C91BCC6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0" y="6450138"/>
            <a:ext cx="7366000" cy="2713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20C65FD-193A-FF9C-C077-85A9F068F6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219550"/>
            <a:ext cx="2496317" cy="111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128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hite Fac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uilding, light, dome&#10;&#10;Description automatically generated">
            <a:extLst>
              <a:ext uri="{FF2B5EF4-FFF2-40B4-BE49-F238E27FC236}">
                <a16:creationId xmlns:a16="http://schemas.microsoft.com/office/drawing/2014/main" id="{387541C9-893F-F91B-B2C8-771FB39B86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566928"/>
            <a:ext cx="7366000" cy="3909822"/>
          </a:xfrm>
        </p:spPr>
        <p:txBody>
          <a:bodyPr anchor="b">
            <a:normAutofit/>
          </a:bodyPr>
          <a:lstStyle>
            <a:lvl1pPr algn="l"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069" y="4785781"/>
            <a:ext cx="7362431" cy="150071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DF003-A33D-4D7D-46B7-8C91BCC6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0" y="6450138"/>
            <a:ext cx="7366000" cy="2713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9" name="Picture 8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631E8B02-1610-7362-36DD-6D6A02FAB3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219550"/>
            <a:ext cx="2496317" cy="111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57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: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5477496"/>
            <a:ext cx="7365999" cy="97264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5283351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DF6B21-F51E-88D5-5787-BD2AB071E5B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1500" y="6450138"/>
            <a:ext cx="7366000" cy="2713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DC3745D-F8EE-CDB2-F4BB-5C1216E400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0" y="5473284"/>
            <a:ext cx="2496317" cy="111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842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: Facets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A84B-D2AD-766A-3406-CA8629ED1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7366000" cy="246888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3871C-E396-2FCE-911C-CC96EB7C8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3429000"/>
            <a:ext cx="7366000" cy="18288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375EE-16BC-0D88-1584-FC3846CC3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EF81360-97CB-4A43-A0EB-C1B99844441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EDA61027-CAD1-5705-3C38-C30D138073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FCA6E5C2-8CEC-F13D-5BE5-78843C589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40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: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A84B-D2AD-766A-3406-CA8629ED1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7366000" cy="2468880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3871C-E396-2FCE-911C-CC96EB7C8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3429000"/>
            <a:ext cx="7366000" cy="18288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375EE-16BC-0D88-1584-FC3846CC3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1360-97CB-4A43-A0EB-C1B99844441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, circle&#10;&#10;Description automatically generated">
            <a:extLst>
              <a:ext uri="{FF2B5EF4-FFF2-40B4-BE49-F238E27FC236}">
                <a16:creationId xmlns:a16="http://schemas.microsoft.com/office/drawing/2014/main" id="{9F1BC77B-A474-8E2F-3CD5-A7ECFDDD04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6400"/>
            <a:ext cx="492253" cy="513589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87D45CD-88DE-DBA8-B330-AE5CD30D4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344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764FBC7-0EDD-E932-1B61-941E913CBF2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600200"/>
            <a:ext cx="5067300" cy="1554480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600200"/>
            <a:ext cx="5524500" cy="33375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72718BD-2667-DC98-07FE-F0A41C7C51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0A5CE818-A9FC-2ECE-10FE-DB942305D9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03BED0BC-3EBE-D745-4945-73AF6629D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99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Top Align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66738"/>
            <a:ext cx="3475568" cy="5715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71500"/>
            <a:ext cx="7116232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92FFE-FC25-54B1-BFD0-37B113BA4F8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E3B70ADB-6852-6DD8-7707-7FF051405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67CACBC-A088-F1D0-E839-7E4A704FA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65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0" y="856488"/>
            <a:ext cx="5067299" cy="155448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8BA47EC-9F5A-D195-473F-D45D6B4AAD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096000"/>
          </a:xfrm>
        </p:spPr>
        <p:txBody>
          <a:bodyPr/>
          <a:lstStyle>
            <a:lvl1pPr marL="0" indent="0" algn="ctr">
              <a:buNone/>
              <a:defRPr sz="3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704270"/>
            <a:ext cx="5067299" cy="324542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9571D-A00C-AC78-31B6-F4C14EFD002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70927AD0-8816-2C89-E1E8-75018E401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35BB5A0-7CEF-A623-CAAA-D19993A044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88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01602"/>
            <a:ext cx="4572000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24600" y="2201602"/>
            <a:ext cx="4572000" cy="247380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01421-64A3-7B7E-C8F7-8805BD4B153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C7383457-6AC1-2860-1CE1-DF360C3A3C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7EB3767A-8F35-FFF6-2C3D-12D2847F0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41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entered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651000"/>
            <a:ext cx="5029200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24599" y="1651000"/>
            <a:ext cx="5029200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9BD43-BE72-BAEA-4625-E36A6129AD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D9D08E68-D452-AAC8-5F41-2B861C14DB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B83B1AA-2B78-040D-6237-B79AE2D92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7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op Light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019969"/>
            <a:ext cx="5067300" cy="240903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019969"/>
            <a:ext cx="5524500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786EA-772D-7FBC-F0C2-904C2D40D9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86309024-91C0-2706-C78A-5E0B17A8ED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644E6896-A83F-9383-95ED-3851DB1BD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37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op Medium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09" y="838994"/>
            <a:ext cx="4142232" cy="232251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74491" y="838994"/>
            <a:ext cx="6438900" cy="51800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2271F-63E6-8A32-00F8-D10122ADEA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5AE150A8-BDB3-66EE-F490-ABCFCD3905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6690C84F-D89D-04A7-111A-1D017CE63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15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op Heav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3225800" cy="28575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500" y="571501"/>
            <a:ext cx="7365999" cy="5714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EDF10-00F1-E923-23B0-94EBD082DC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28C7FB19-25A2-CD86-31DF-9E0253C09B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C61EF55D-0715-782F-AB5C-F86579318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11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: Left Max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AC07A-1219-3CFA-DA44-2D8612F1E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1AF033D3-39D3-A01F-4261-4E616E8B78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27BBF85-0C42-F37F-E450-0F7AB5ECD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99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Overlay pane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214204" cy="6096000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981200"/>
            <a:ext cx="5410199" cy="389658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4C2CF-91DC-4B10-665F-AF08B6BB57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721" y="1219200"/>
            <a:ext cx="5427879" cy="598363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3" name="Picture 2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AA42C8B8-C8F6-AB4E-4F07-8120893D04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EC03E27-F756-C36E-538D-300359FA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7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Overlay pane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214204" cy="6096000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981200"/>
            <a:ext cx="5410199" cy="3896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4C2CF-91DC-4B10-665F-AF08B6BB57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721" y="1219200"/>
            <a:ext cx="5429679" cy="598363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3" name="Picture 2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26EE30D1-E1F8-D6FD-EE44-B0BDC5EF33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DECF15DF-D643-672F-199D-AC4F87D1E5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8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Photo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648271"/>
            <a:ext cx="5086350" cy="163822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356100"/>
          </a:xfrm>
        </p:spPr>
        <p:txBody>
          <a:bodyPr/>
          <a:lstStyle>
            <a:lvl1pPr marL="0" indent="0" algn="ctr">
              <a:buNone/>
              <a:defRPr sz="3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648201"/>
            <a:ext cx="5524500" cy="163830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675829-13BC-40FA-D1A7-54F61C0323F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7A15D3A5-63DF-1CD8-22D4-6B4A88E5A8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499BEAD0-B5CD-7046-9F00-53B6AE5B9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213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ide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27E76F-6ABF-BDF0-4947-E3625E533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499" y="1959558"/>
            <a:ext cx="5295899" cy="43269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959558"/>
            <a:ext cx="5295900" cy="43269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669C2F-2ABF-ABA2-C2FD-A11DE96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2AA1B86E-94FF-A620-1896-12FF311FB7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1B795-E836-74C4-CDD4-2D0756A448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905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A44A8D2-C7B5-107C-786E-1B4D1440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0"/>
            <a:ext cx="11049000" cy="1079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1965652"/>
            <a:ext cx="529589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499" y="2618072"/>
            <a:ext cx="5295899" cy="36684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3" y="1965651"/>
            <a:ext cx="529589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1" y="2618072"/>
            <a:ext cx="5295899" cy="36684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BE1F56-7EA6-1ABC-FFE2-20B43B3E5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8D32975F-41D7-B34D-48C8-28FAE2AB63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EEEEA9E-3091-179E-672E-16DA654F540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12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34F71-C814-6978-3FC7-F3E9790BE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A6B3085B-AC24-9916-4292-FE57D4BB60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3BF0E74-6636-1621-6F9C-5D23804BF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71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/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34F71-C814-6978-3FC7-F3E9790BE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picture containing text, outdoor, sign, reading&#10;&#10;Description automatically generated">
            <a:extLst>
              <a:ext uri="{FF2B5EF4-FFF2-40B4-BE49-F238E27FC236}">
                <a16:creationId xmlns:a16="http://schemas.microsoft.com/office/drawing/2014/main" id="{A6B3085B-AC24-9916-4292-FE57D4BB60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0" y="6205619"/>
            <a:ext cx="507493" cy="533401"/>
          </a:xfrm>
          <a:prstGeom prst="rect">
            <a:avLst/>
          </a:prstGeom>
        </p:spPr>
      </p:pic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3BF0E74-6636-1621-6F9C-5D23804BF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75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0"/>
            <a:ext cx="11049000" cy="107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1944302"/>
            <a:ext cx="11049000" cy="4342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add content.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 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FE271-1279-F318-131B-9AED97496B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6100" y="6450138"/>
            <a:ext cx="9144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8873FC5-06E3-F2C0-8B18-678BBCCCCE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50138"/>
            <a:ext cx="70231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4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723" r:id="rId2"/>
    <p:sldLayoutId id="2147483724" r:id="rId3"/>
    <p:sldLayoutId id="2147483726" r:id="rId4"/>
    <p:sldLayoutId id="2147483671" r:id="rId5"/>
    <p:sldLayoutId id="2147483677" r:id="rId6"/>
    <p:sldLayoutId id="2147483722" r:id="rId7"/>
    <p:sldLayoutId id="2147483678" r:id="rId8"/>
    <p:sldLayoutId id="2147483679" r:id="rId9"/>
    <p:sldLayoutId id="2147483680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8" r:id="rId16"/>
    <p:sldLayoutId id="2147483689" r:id="rId17"/>
    <p:sldLayoutId id="2147483725" r:id="rId18"/>
    <p:sldLayoutId id="2147483694" r:id="rId19"/>
    <p:sldLayoutId id="2147483699" r:id="rId20"/>
    <p:sldLayoutId id="2147483700" r:id="rId21"/>
    <p:sldLayoutId id="2147483701" r:id="rId22"/>
    <p:sldLayoutId id="2147483727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60">
          <p15:clr>
            <a:srgbClr val="A4A3A4"/>
          </p15:clr>
        </p15:guide>
        <p15:guide id="9" pos="7320">
          <p15:clr>
            <a:srgbClr val="A4A3A4"/>
          </p15:clr>
        </p15:guide>
        <p15:guide id="12" orient="horz" pos="360">
          <p15:clr>
            <a:srgbClr val="A4A3A4"/>
          </p15:clr>
        </p15:guide>
        <p15:guide id="14" orient="horz" pos="3960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B37AF-90D1-2EF3-3CEB-441BA2AC9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DE25B-27E5-9C42-1CB8-990200533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057400"/>
            <a:ext cx="8420100" cy="1181099"/>
          </a:xfrm>
        </p:spPr>
        <p:txBody>
          <a:bodyPr>
            <a:noAutofit/>
          </a:bodyPr>
          <a:lstStyle/>
          <a:p>
            <a:r>
              <a:rPr lang="en-US" sz="6000" b="1" dirty="0"/>
              <a:t>AWS Bedrock AgentCore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66BE9-DB34-82E9-F6AC-47DF366AA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891" y="3733800"/>
            <a:ext cx="2400300" cy="533400"/>
          </a:xfrm>
        </p:spPr>
        <p:txBody>
          <a:bodyPr/>
          <a:lstStyle/>
          <a:p>
            <a:r>
              <a:rPr lang="en-US" dirty="0"/>
              <a:t>By: Sarvagya Meel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0875E-CF64-F836-9F1A-01B77E850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1360-97CB-4A43-A0EB-C1B99844441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5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630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AWS Amazon Bedrock AgentCore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107899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1033272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284A"/>
                </a:solidFill>
              </a:defRPr>
            </a:pPr>
            <a:r>
              <a:rPr sz="2000" dirty="0"/>
              <a:t>Agenda</a:t>
            </a:r>
            <a:endParaRPr lang="en-US" sz="2000" dirty="0"/>
          </a:p>
          <a:p>
            <a:pPr>
              <a:defRPr sz="1800" b="1">
                <a:solidFill>
                  <a:srgbClr val="00284A"/>
                </a:solidFill>
              </a:defRPr>
            </a:pPr>
            <a:endParaRPr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4D4E53"/>
                </a:solidFill>
              </a:defRPr>
            </a:pPr>
            <a:r>
              <a:rPr lang="en-US" dirty="0"/>
              <a:t>What is AgentCore?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4D4E53"/>
                </a:solidFill>
              </a:defRPr>
            </a:pPr>
            <a:r>
              <a:rPr lang="en-US" dirty="0"/>
              <a:t>Why AgentCore needed?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4D4E53"/>
                </a:solidFill>
              </a:defRPr>
            </a:pPr>
            <a:r>
              <a:rPr lang="en-US" dirty="0"/>
              <a:t>C</a:t>
            </a:r>
            <a:r>
              <a:rPr dirty="0"/>
              <a:t>ore concepts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4D4E53"/>
                </a:solidFill>
              </a:defRPr>
            </a:pPr>
            <a:r>
              <a:rPr lang="en-US" dirty="0"/>
              <a:t>Runtime Overview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4D4E53"/>
                </a:solidFill>
              </a:defRPr>
            </a:pPr>
            <a:r>
              <a:rPr lang="en-US" dirty="0"/>
              <a:t>Integration Flow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4D4E53"/>
                </a:solidFill>
              </a:defRPr>
            </a:pPr>
            <a:r>
              <a:rPr lang="en-US" dirty="0"/>
              <a:t>POC</a:t>
            </a:r>
            <a:r>
              <a:rPr dirty="0"/>
              <a:t> implementation plan</a:t>
            </a:r>
            <a:r>
              <a:rPr lang="en-US" dirty="0"/>
              <a:t>s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4D4E53"/>
                </a:solidFill>
              </a:defRPr>
            </a:pPr>
            <a:r>
              <a:rPr dirty="0"/>
              <a:t>Pricing units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269016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dirty="0"/>
              <a:t>What is </a:t>
            </a:r>
            <a:r>
              <a:rPr dirty="0"/>
              <a:t>AgentCore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399" y="1586597"/>
            <a:ext cx="32918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84A"/>
                </a:solidFill>
              </a:defRPr>
            </a:pPr>
            <a:r>
              <a:rPr dirty="0"/>
              <a:t>What it is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dirty="0"/>
              <a:t>Managed platform to build, deploy, and operate AI agents at scale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dirty="0"/>
              <a:t>Composable services can be used together or independently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23444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1417320"/>
            <a:ext cx="32918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84A"/>
                </a:solidFill>
              </a:defRPr>
            </a:pPr>
            <a:r>
              <a:rPr lang="en-US" dirty="0"/>
              <a:t>Example use cases: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549640" y="1234440"/>
            <a:ext cx="30632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1417320"/>
            <a:ext cx="260604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4A"/>
                </a:solidFill>
              </a:defRPr>
            </a:pPr>
            <a:r>
              <a:rPr dirty="0"/>
              <a:t>How you pay (units)</a:t>
            </a:r>
            <a:endParaRPr lang="en-US" dirty="0"/>
          </a:p>
          <a:p>
            <a:pPr>
              <a:defRPr sz="1400" b="1">
                <a:solidFill>
                  <a:srgbClr val="00284A"/>
                </a:solidFill>
              </a:defRPr>
            </a:pP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dirty="0"/>
              <a:t>Runtime/Browser/Code Interpreter: vCPU-hour + GB-hour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dirty="0"/>
              <a:t>Gateway: invocations/search/indexing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dirty="0"/>
              <a:t>Memory: events/records/retrievals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dirty="0" err="1"/>
              <a:t>Obs</a:t>
            </a:r>
            <a:r>
              <a:rPr dirty="0"/>
              <a:t> &amp; Evals: telemetry + tokens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77638"/>
            <a:ext cx="10972800" cy="278892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3466" y="4165693"/>
            <a:ext cx="10972799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84A"/>
                </a:solidFill>
              </a:defRPr>
            </a:pPr>
            <a:r>
              <a:rPr lang="en-US" dirty="0"/>
              <a:t>Core AgentCore services/Capabilities</a:t>
            </a:r>
          </a:p>
          <a:p>
            <a:pPr>
              <a:defRPr sz="1600" b="1">
                <a:solidFill>
                  <a:srgbClr val="00284A"/>
                </a:solidFill>
              </a:defRPr>
            </a:pPr>
            <a:endParaRPr dirty="0"/>
          </a:p>
          <a:p>
            <a:pPr marL="228600" indent="-228600">
              <a:buFont typeface="+mj-lt"/>
              <a:buAutoNum type="arabicPeriod"/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AgentCore Runtime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Secure, serverless environment to host and run agents/tools without managing infrastructure.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AgentCore Memory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Managed memory system for short-term and long-term context retention (including strategies for how memory is stored/retrieved).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AgentCore Gateway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Converts APIs/Lambda services into 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MCP-compatible tools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connects to existing MCP servers so agents can discover/invoke tools via a secure endpoint.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AgentCore Identity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Agent identity + access management, designed to help agents securely access AWS and third‑party services.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AgentCore Observability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Monitoring/tracing for agent execution and performance; integrates with CloudWatch and supports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OpenTelemetry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-style telemetry.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Policy (Preview)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Deterministic control over agent tool actions, enforced via Gateway by intercepting tool calls before execution.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Evaluations (Preview)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Managed evaluation of agent behavior/quality with built-in + custom evaluators (integrated into monitoring). </a:t>
            </a:r>
            <a:endParaRPr lang="en-US" dirty="0"/>
          </a:p>
          <a:p>
            <a:pPr>
              <a:defRPr sz="1200">
                <a:solidFill>
                  <a:srgbClr val="4D4E53"/>
                </a:solidFill>
              </a:defRPr>
            </a:pPr>
            <a:endParaRPr dirty="0"/>
          </a:p>
        </p:txBody>
      </p:sp>
      <p:pic>
        <p:nvPicPr>
          <p:cNvPr id="17" name="Picture 16" descr="_agentcore_slide_1.png">
            <a:extLst>
              <a:ext uri="{FF2B5EF4-FFF2-40B4-BE49-F238E27FC236}">
                <a16:creationId xmlns:a16="http://schemas.microsoft.com/office/drawing/2014/main" id="{53314755-0184-3C2C-1875-3C46993668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838" t="39500" r="3718" b="27833"/>
          <a:stretch>
            <a:fillRect/>
          </a:stretch>
        </p:blipFill>
        <p:spPr>
          <a:xfrm>
            <a:off x="4872726" y="1796547"/>
            <a:ext cx="1986281" cy="14935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229582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dirty="0"/>
              <a:t>Why AgentCore?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00284A"/>
                </a:solidFill>
              </a:defRPr>
            </a:pPr>
            <a:r>
              <a:rPr lang="en-US" dirty="0"/>
              <a:t>Why the need?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Faster path from prototype to production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Standardized governance and operations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Measurable quality and production visibility</a:t>
            </a:r>
          </a:p>
        </p:txBody>
      </p:sp>
      <p:pic>
        <p:nvPicPr>
          <p:cNvPr id="8" name="Picture 7" descr="_agentcore_slide_6.png"/>
          <p:cNvPicPr>
            <a:picLocks noChangeAspect="1"/>
          </p:cNvPicPr>
          <p:nvPr/>
        </p:nvPicPr>
        <p:blipFill>
          <a:blip r:embed="rId2"/>
          <a:srcRect l="935" t="500" r="929" b="1"/>
          <a:stretch>
            <a:fillRect/>
          </a:stretch>
        </p:blipFill>
        <p:spPr>
          <a:xfrm>
            <a:off x="5638800" y="1600200"/>
            <a:ext cx="4419600" cy="45491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372890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AgentCore </a:t>
            </a:r>
            <a:r>
              <a:rPr lang="en-US" dirty="0"/>
              <a:t>— Core concepts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agentcore_slid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951" y="1577339"/>
            <a:ext cx="592979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419698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AgentCore</a:t>
            </a:r>
            <a:r>
              <a:rPr lang="en-US" dirty="0"/>
              <a:t> — Runtime Overview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agentcore_slid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908" y="1577339"/>
            <a:ext cx="728587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384592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AgentCore </a:t>
            </a:r>
            <a:r>
              <a:rPr lang="en-US" dirty="0"/>
              <a:t>- Integration Flow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agentcore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759" y="1577339"/>
            <a:ext cx="905417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F25A9C-EDE3-4101-906E-E92C16FA8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60C8B5-AA0F-7B11-C9AA-E972D1088F64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457C5-9A4F-2334-D1A2-5F7E2314F128}"/>
              </a:ext>
            </a:extLst>
          </p:cNvPr>
          <p:cNvSpPr txBox="1"/>
          <p:nvPr/>
        </p:nvSpPr>
        <p:spPr>
          <a:xfrm>
            <a:off x="685800" y="91440"/>
            <a:ext cx="619592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IN" sz="2200" b="1" dirty="0" err="1"/>
              <a:t>AgentCore</a:t>
            </a:r>
            <a:r>
              <a:rPr lang="en-IN" sz="2200" b="1" dirty="0"/>
              <a:t>:  POC Technical Feasibility Planning</a:t>
            </a:r>
            <a:endParaRPr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BAE184A-2D1D-EC83-572C-515D0522420A}"/>
              </a:ext>
            </a:extLst>
          </p:cNvPr>
          <p:cNvSpPr/>
          <p:nvPr/>
        </p:nvSpPr>
        <p:spPr>
          <a:xfrm>
            <a:off x="211301" y="733302"/>
            <a:ext cx="5577840" cy="414349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5563A5-EE82-519E-087D-C66EAD944A20}"/>
              </a:ext>
            </a:extLst>
          </p:cNvPr>
          <p:cNvSpPr/>
          <p:nvPr/>
        </p:nvSpPr>
        <p:spPr>
          <a:xfrm>
            <a:off x="6096000" y="786001"/>
            <a:ext cx="5415742" cy="40907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52CFB8-A026-B98A-D7AA-9EF11FCA71F1}"/>
              </a:ext>
            </a:extLst>
          </p:cNvPr>
          <p:cNvSpPr txBox="1"/>
          <p:nvPr/>
        </p:nvSpPr>
        <p:spPr>
          <a:xfrm>
            <a:off x="854037" y="1288375"/>
            <a:ext cx="4297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4A"/>
                </a:solidFill>
              </a:defRPr>
            </a:pPr>
            <a:endParaRPr lang="en-US" dirty="0"/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DDB114A3-57EC-B950-5C9C-8F2819C80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34" y="923372"/>
            <a:ext cx="527590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POC 1: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Knowledge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QnA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200" b="1" dirty="0">
                <a:latin typeface="Arial" panose="020B0604020202020204" pitchFamily="34" charset="0"/>
              </a:rPr>
              <a:t>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pecialist </a:t>
            </a:r>
            <a:r>
              <a:rPr lang="en-US" altLang="en-US" sz="1200" b="1" dirty="0">
                <a:latin typeface="Arial" panose="020B0604020202020204" pitchFamily="34" charset="0"/>
              </a:rPr>
              <a:t>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gent.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Demonstrates basic agent deployment using Langchain framework on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AgentCore Runtime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Dependencies: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endParaRPr lang="en-US" altLang="en-US" sz="12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POC 2: Memory as Service.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Context Protocol (MCP)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server with </a:t>
            </a:r>
            <a:r>
              <a:rPr lang="en-US" altLang="en-US" sz="1200" b="1" dirty="0">
                <a:latin typeface="Arial" panose="020B0604020202020204" pitchFamily="34" charset="0"/>
              </a:rPr>
              <a:t>AgentCore M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emory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 capabilities on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AgentCore Runtime 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Dependencies: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None 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POC 3 : AgentCore Gateway: Tools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direct tool deployment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 AgentCore Gateway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AWS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Lambda functions 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Dependencies: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None 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POC 4 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MCP Server, AgentCore </a:t>
            </a:r>
            <a:r>
              <a:rPr lang="en-US" altLang="en-US" sz="1200" b="1" dirty="0">
                <a:latin typeface="Arial" panose="020B0604020202020204" pitchFamily="34" charset="0"/>
              </a:rPr>
              <a:t>R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untime and AgentCore Gateway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Establishes connection between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MCP runtime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(External or AgentCore hosted) and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AgentCore Gateway 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Dependencies: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F7FA41E0-2276-D239-35DF-B4FD6F608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664" y="1067214"/>
            <a:ext cx="52578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Arial" panose="020B0604020202020204" pitchFamily="34" charset="0"/>
              </a:rPr>
              <a:t>POC 8 : Agent as a Tool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Arial" panose="020B0604020202020204" pitchFamily="34" charset="0"/>
              </a:rPr>
              <a:t>Description:</a:t>
            </a:r>
            <a:r>
              <a:rPr lang="en-US" altLang="en-US" sz="1200" dirty="0">
                <a:latin typeface="Arial" panose="020B0604020202020204" pitchFamily="34" charset="0"/>
              </a:rPr>
              <a:t> Wraps the </a:t>
            </a:r>
            <a:r>
              <a:rPr lang="en-US" altLang="en-US" sz="1200" dirty="0" err="1">
                <a:latin typeface="Arial" panose="020B0604020202020204" pitchFamily="34" charset="0"/>
              </a:rPr>
              <a:t>QnA</a:t>
            </a:r>
            <a:r>
              <a:rPr lang="en-US" altLang="en-US" sz="1200" dirty="0">
                <a:latin typeface="Arial" panose="020B0604020202020204" pitchFamily="34" charset="0"/>
              </a:rPr>
              <a:t> agent from POC 1 as a callable tool accessible through </a:t>
            </a:r>
            <a:r>
              <a:rPr lang="en-US" altLang="en-US" sz="1200" b="1" dirty="0">
                <a:latin typeface="Arial" panose="020B0604020202020204" pitchFamily="34" charset="0"/>
              </a:rPr>
              <a:t>AgentCore Gateway 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Arial" panose="020B0604020202020204" pitchFamily="34" charset="0"/>
              </a:rPr>
              <a:t>Dependencies:</a:t>
            </a:r>
            <a:r>
              <a:rPr lang="en-US" altLang="en-US" sz="1200" dirty="0">
                <a:latin typeface="Arial" panose="020B0604020202020204" pitchFamily="34" charset="0"/>
              </a:rPr>
              <a:t> POC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POC 9 : Orchestration 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Integrates tool deployment capabilities from Gateway with MCP connectivity to create a fully featured </a:t>
            </a:r>
            <a:r>
              <a:rPr lang="en-US" altLang="en-US" sz="1200" b="1" dirty="0">
                <a:latin typeface="Arial" panose="020B0604020202020204" pitchFamily="34" charset="0"/>
              </a:rPr>
              <a:t>Supervisor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Dependencies: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POC 3, POC 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POC 10 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A2A for Multi-Agent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Implements agent-to-agent (A2A) communication patterns and registry enabling multi-agent collaboration on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AgentCore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Dependencies: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None (conceptually builds on prior POCs)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BD0E99A-F6F6-5C75-63A1-8E6FBFE8C896}"/>
              </a:ext>
            </a:extLst>
          </p:cNvPr>
          <p:cNvSpPr/>
          <p:nvPr/>
        </p:nvSpPr>
        <p:spPr>
          <a:xfrm>
            <a:off x="2489886" y="4957674"/>
            <a:ext cx="7561098" cy="177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  <a:endParaRPr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177655-2D9D-E805-EC4D-8CEE885E0976}"/>
              </a:ext>
            </a:extLst>
          </p:cNvPr>
          <p:cNvSpPr txBox="1"/>
          <p:nvPr/>
        </p:nvSpPr>
        <p:spPr>
          <a:xfrm>
            <a:off x="2514600" y="4989088"/>
            <a:ext cx="77149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POC 5: </a:t>
            </a:r>
            <a:r>
              <a:rPr lang="en-IN" sz="1200" b="1" dirty="0" err="1"/>
              <a:t>AgentCore</a:t>
            </a:r>
            <a:r>
              <a:rPr lang="en-IN" sz="1200" b="1" dirty="0"/>
              <a:t> Identity &amp; Policy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Arial" panose="020B0604020202020204" pitchFamily="34" charset="0"/>
              </a:rPr>
              <a:t>Description:</a:t>
            </a:r>
            <a:r>
              <a:rPr lang="en-IN" sz="1200" dirty="0"/>
              <a:t> Security, access control, Identity based tool/agent accesses</a:t>
            </a:r>
            <a:endParaRPr lang="en-IN" sz="1200" b="1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Arial" panose="020B0604020202020204" pitchFamily="34" charset="0"/>
              </a:rPr>
              <a:t>Dependencies:</a:t>
            </a:r>
            <a:r>
              <a:rPr lang="en-US" altLang="en-US" sz="1200" dirty="0">
                <a:latin typeface="Arial" panose="020B0604020202020204" pitchFamily="34" charset="0"/>
              </a:rPr>
              <a:t> None (applies to all agents/tools.)</a:t>
            </a:r>
            <a:endParaRPr lang="en-IN" sz="1200" b="1" dirty="0"/>
          </a:p>
          <a:p>
            <a:r>
              <a:rPr lang="en-IN" sz="1200" b="1" dirty="0"/>
              <a:t>POC 6: </a:t>
            </a:r>
            <a:r>
              <a:rPr lang="en-IN" sz="1200" b="1" dirty="0" err="1"/>
              <a:t>AgentCore</a:t>
            </a:r>
            <a:r>
              <a:rPr lang="en-IN" sz="1200" b="1" dirty="0"/>
              <a:t> Observability :</a:t>
            </a:r>
            <a:r>
              <a:rPr lang="en-IN" sz="1200" dirty="0"/>
              <a:t> observability infrastructure running in parallel to all POC development.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Arial" panose="020B0604020202020204" pitchFamily="34" charset="0"/>
              </a:rPr>
              <a:t>Description:</a:t>
            </a:r>
            <a:r>
              <a:rPr lang="en-US" altLang="en-US" sz="1200" dirty="0">
                <a:latin typeface="Arial" panose="020B0604020202020204" pitchFamily="34" charset="0"/>
              </a:rPr>
              <a:t> Establishes evaluation framework for assessing agent performance and quality 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Arial" panose="020B0604020202020204" pitchFamily="34" charset="0"/>
              </a:rPr>
              <a:t>Dependencies:</a:t>
            </a:r>
            <a:r>
              <a:rPr lang="en-US" altLang="en-US" sz="1200" dirty="0">
                <a:latin typeface="Arial" panose="020B0604020202020204" pitchFamily="34" charset="0"/>
              </a:rPr>
              <a:t> None (applies to all agents/tools.)</a:t>
            </a:r>
            <a:endParaRPr lang="en-IN" sz="1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Arial" panose="020B0604020202020204" pitchFamily="34" charset="0"/>
              </a:rPr>
              <a:t>POC 7 :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  <a:r>
              <a:rPr lang="en-US" altLang="en-US" sz="1200" b="1" dirty="0">
                <a:latin typeface="Arial" panose="020B0604020202020204" pitchFamily="34" charset="0"/>
              </a:rPr>
              <a:t>AgentCore Evaluations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Arial" panose="020B0604020202020204" pitchFamily="34" charset="0"/>
              </a:rPr>
              <a:t>Description:</a:t>
            </a:r>
            <a:r>
              <a:rPr lang="en-US" altLang="en-US" sz="1200" dirty="0">
                <a:latin typeface="Arial" panose="020B0604020202020204" pitchFamily="34" charset="0"/>
              </a:rPr>
              <a:t> Establishes evaluation framework for assessing agent performance and quality 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Arial" panose="020B0604020202020204" pitchFamily="34" charset="0"/>
              </a:rPr>
              <a:t>Dependencies:</a:t>
            </a:r>
            <a:r>
              <a:rPr lang="en-US" altLang="en-US" sz="1200" dirty="0">
                <a:latin typeface="Arial" panose="020B0604020202020204" pitchFamily="34" charset="0"/>
              </a:rPr>
              <a:t> None (applies to all agents/tools.)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FC5AF8-59A9-62ED-9F05-5D9E5ADF8667}"/>
              </a:ext>
            </a:extLst>
          </p:cNvPr>
          <p:cNvSpPr/>
          <p:nvPr/>
        </p:nvSpPr>
        <p:spPr>
          <a:xfrm>
            <a:off x="10049319" y="690603"/>
            <a:ext cx="1931380" cy="502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Patterns POCs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7CFB77-1830-A913-CF79-633BE9083B51}"/>
              </a:ext>
            </a:extLst>
          </p:cNvPr>
          <p:cNvSpPr/>
          <p:nvPr/>
        </p:nvSpPr>
        <p:spPr>
          <a:xfrm>
            <a:off x="9581832" y="5012134"/>
            <a:ext cx="1619568" cy="502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Parallel POCs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1C6627-8A4C-E5DF-8A2E-5341F66AD39D}"/>
              </a:ext>
            </a:extLst>
          </p:cNvPr>
          <p:cNvSpPr/>
          <p:nvPr/>
        </p:nvSpPr>
        <p:spPr>
          <a:xfrm>
            <a:off x="4633576" y="636143"/>
            <a:ext cx="1295400" cy="502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POCs</a:t>
            </a:r>
          </a:p>
        </p:txBody>
      </p:sp>
    </p:spTree>
    <p:extLst>
      <p:ext uri="{BB962C8B-B14F-4D97-AF65-F5344CB8AC3E}">
        <p14:creationId xmlns:p14="http://schemas.microsoft.com/office/powerpoint/2010/main" val="3268233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356860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dirty="0"/>
              <a:t>AgentCore —  </a:t>
            </a:r>
            <a:r>
              <a:rPr dirty="0"/>
              <a:t>Pricing units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110642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428864"/>
              </p:ext>
            </p:extLst>
          </p:nvPr>
        </p:nvGraphicFramePr>
        <p:xfrm>
          <a:off x="990600" y="1524000"/>
          <a:ext cx="104394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9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9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284A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D9D8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284A"/>
                          </a:solidFill>
                        </a:defRPr>
                      </a:pPr>
                      <a:r>
                        <a:t>Meter (unit)</a:t>
                      </a:r>
                    </a:p>
                  </a:txBody>
                  <a:tcPr>
                    <a:solidFill>
                      <a:srgbClr val="D9D8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284A"/>
                          </a:solidFill>
                        </a:defRPr>
                      </a:pPr>
                      <a:r>
                        <a:rPr dirty="0"/>
                        <a:t>Price</a:t>
                      </a:r>
                    </a:p>
                  </a:txBody>
                  <a:tcPr>
                    <a:solidFill>
                      <a:srgbClr val="D9D8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rPr dirty="0"/>
                        <a:t>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CPU (vCPU-hour), Memory (GB-hour)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$0.0895/vCPU-hr; $0.00945/GB-hr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Browser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CPU (vCPU-hour), Memory (GB-hour)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$0.0895/vCPU-hr; $0.00945/GB-hr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Code Interpreter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CPU (vCPU-hour), Memory (GB-hour)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$0.0895/vCPU-hr; $0.00945/GB-hr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Invocations/1,000; Search/1,000; Tool indexing/100 tools/month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$0.005; $0.025; $0.02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Token/API key requests for non‑AWS resources/1,000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$0.010 (no addl charge via Runtime/Gateway)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Events/1,000; Records stored/month; Retrieval/1,000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$0.25; $0.75 or $0.25; $0.50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Spans/logs/metrics (CloudWatch)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CloudWatch pricing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Evaluations (Preview)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Built-in: tokens; Custom: eval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$0.0024/1k in; $0.012/1k out; $1.50/1k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Policy (Preview)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t>Auth request; NL authoring input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D4E53"/>
                          </a:solidFill>
                        </a:defRPr>
                      </a:pPr>
                      <a:r>
                        <a:rPr dirty="0"/>
                        <a:t>$0.000025/request; $0.13/1k tokens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43000" y="59893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D4E53"/>
                </a:solidFill>
              </a:defRPr>
            </a:pPr>
            <a:r>
              <a:rPr dirty="0"/>
              <a:t>Note: Observability charges are billed via CloudWatch telemetry ingestion, storage, and queries.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921F-9162-3AE9-3197-54CDE0426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057400"/>
            <a:ext cx="7366000" cy="1181099"/>
          </a:xfrm>
        </p:spPr>
        <p:txBody>
          <a:bodyPr>
            <a:normAutofit/>
          </a:bodyPr>
          <a:lstStyle/>
          <a:p>
            <a:r>
              <a:rPr lang="en-US" sz="6000" b="1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5B6A1-A196-9F56-0C2F-FA1B2A3E6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3086102"/>
            <a:ext cx="2324100" cy="1066800"/>
          </a:xfrm>
        </p:spPr>
        <p:txBody>
          <a:bodyPr/>
          <a:lstStyle/>
          <a:p>
            <a:r>
              <a:rPr lang="en-US" dirty="0"/>
              <a:t>Sarvagya Meel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4A8C6-703A-0584-C037-9EE6C5C8F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1360-97CB-4A43-A0EB-C1B99844441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51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844494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dirty="0"/>
              <a:t>AgentCore — </a:t>
            </a:r>
            <a:r>
              <a:rPr dirty="0"/>
              <a:t>End-to-end reference architecture</a:t>
            </a:r>
            <a:r>
              <a:rPr lang="en-US" dirty="0"/>
              <a:t>(IN Development)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6200" y="1248517"/>
            <a:ext cx="1554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lang="en-IN" dirty="0"/>
              <a:t>User via </a:t>
            </a:r>
            <a:r>
              <a:rPr lang="en-US" dirty="0"/>
              <a:t>Teams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11650905" y="6621098"/>
            <a:ext cx="548640" cy="228600"/>
          </a:xfrm>
          <a:prstGeom prst="roundRect">
            <a:avLst/>
          </a:prstGeom>
          <a:solidFill>
            <a:srgbClr val="D9D8D7"/>
          </a:solidFill>
          <a:ln>
            <a:solidFill>
              <a:srgbClr val="D9D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284A"/>
                </a:solidFill>
              </a:defRPr>
            </a:pPr>
            <a:r>
              <a:rPr dirty="0"/>
              <a:t>S5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93759" y="590184"/>
            <a:ext cx="1706358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Master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50793" y="2314155"/>
            <a:ext cx="16687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ASK</a:t>
            </a:r>
            <a:r>
              <a:rPr lang="en-US" dirty="0"/>
              <a:t> Router Agent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750793" y="3364992"/>
            <a:ext cx="16687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MS </a:t>
            </a:r>
            <a:r>
              <a:rPr lang="en-US" dirty="0"/>
              <a:t>Router Agent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8713675" y="1463354"/>
            <a:ext cx="1705838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APIs / Lambda</a:t>
            </a:r>
            <a:br>
              <a:rPr dirty="0"/>
            </a:br>
            <a:r>
              <a:rPr dirty="0"/>
              <a:t>MCP Tools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5696" y="2188974"/>
            <a:ext cx="2181055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AgentCore Identity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74915" y="5981018"/>
            <a:ext cx="2198407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AgentCore Memory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7255" y="3850090"/>
            <a:ext cx="20116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Policy (Preview)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15224" y="5954612"/>
            <a:ext cx="18288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Observability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68532" y="5983707"/>
            <a:ext cx="18288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Evaluations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8310723" y="705053"/>
            <a:ext cx="228600" cy="179962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4" name="Rounded Rectangle 13">
            <a:extLst>
              <a:ext uri="{FF2B5EF4-FFF2-40B4-BE49-F238E27FC236}">
                <a16:creationId xmlns:a16="http://schemas.microsoft.com/office/drawing/2014/main" id="{5286435D-DED7-E157-707A-1F0E1498FB86}"/>
              </a:ext>
            </a:extLst>
          </p:cNvPr>
          <p:cNvSpPr/>
          <p:nvPr/>
        </p:nvSpPr>
        <p:spPr>
          <a:xfrm>
            <a:off x="8774181" y="4410479"/>
            <a:ext cx="16915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lang="en-US" dirty="0"/>
              <a:t>New Agents</a:t>
            </a:r>
          </a:p>
          <a:p>
            <a:pPr algn="ctr">
              <a:defRPr sz="1000">
                <a:solidFill>
                  <a:srgbClr val="4D4E53"/>
                </a:solidFill>
              </a:defRPr>
            </a:pPr>
            <a:r>
              <a:rPr lang="en-US" dirty="0"/>
              <a:t>… future agents</a:t>
            </a:r>
          </a:p>
        </p:txBody>
      </p:sp>
      <p:cxnSp>
        <p:nvCxnSpPr>
          <p:cNvPr id="59" name="Connector 21">
            <a:extLst>
              <a:ext uri="{FF2B5EF4-FFF2-40B4-BE49-F238E27FC236}">
                <a16:creationId xmlns:a16="http://schemas.microsoft.com/office/drawing/2014/main" id="{D2DF6ED1-F5EE-AA10-D132-52B8459B113E}"/>
              </a:ext>
            </a:extLst>
          </p:cNvPr>
          <p:cNvCxnSpPr>
            <a:cxnSpLocks/>
          </p:cNvCxnSpPr>
          <p:nvPr/>
        </p:nvCxnSpPr>
        <p:spPr>
          <a:xfrm>
            <a:off x="675890" y="1878607"/>
            <a:ext cx="9910" cy="1072980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982302AA-48F1-EEB3-7D42-C85B3A30370D}"/>
              </a:ext>
            </a:extLst>
          </p:cNvPr>
          <p:cNvSpPr/>
          <p:nvPr/>
        </p:nvSpPr>
        <p:spPr>
          <a:xfrm rot="19028928">
            <a:off x="8453863" y="1524848"/>
            <a:ext cx="228600" cy="179962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99B9CC5C-2CFD-5B96-0CE0-BAB36DD2D1E2}"/>
              </a:ext>
            </a:extLst>
          </p:cNvPr>
          <p:cNvSpPr/>
          <p:nvPr/>
        </p:nvSpPr>
        <p:spPr>
          <a:xfrm rot="5400000">
            <a:off x="8546512" y="3575544"/>
            <a:ext cx="228600" cy="179962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173B9ED1-E094-2B73-8180-7BF3BA61523B}"/>
              </a:ext>
            </a:extLst>
          </p:cNvPr>
          <p:cNvSpPr/>
          <p:nvPr/>
        </p:nvSpPr>
        <p:spPr>
          <a:xfrm rot="6101011">
            <a:off x="8515810" y="4428281"/>
            <a:ext cx="228600" cy="315169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5" name="Connector 22">
            <a:extLst>
              <a:ext uri="{FF2B5EF4-FFF2-40B4-BE49-F238E27FC236}">
                <a16:creationId xmlns:a16="http://schemas.microsoft.com/office/drawing/2014/main" id="{D2878D96-28D9-F75E-99A3-87F50AACBD48}"/>
              </a:ext>
            </a:extLst>
          </p:cNvPr>
          <p:cNvCxnSpPr>
            <a:cxnSpLocks/>
            <a:stCxn id="17" idx="3"/>
            <a:endCxn id="70" idx="1"/>
          </p:cNvCxnSpPr>
          <p:nvPr/>
        </p:nvCxnSpPr>
        <p:spPr>
          <a:xfrm flipV="1">
            <a:off x="2140050" y="1653697"/>
            <a:ext cx="6386215" cy="1655635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22">
            <a:extLst>
              <a:ext uri="{FF2B5EF4-FFF2-40B4-BE49-F238E27FC236}">
                <a16:creationId xmlns:a16="http://schemas.microsoft.com/office/drawing/2014/main" id="{926D46BF-C675-BEA4-F208-B4491F879BC1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>
            <a:off x="2140050" y="3309332"/>
            <a:ext cx="6610743" cy="375700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22">
            <a:extLst>
              <a:ext uri="{FF2B5EF4-FFF2-40B4-BE49-F238E27FC236}">
                <a16:creationId xmlns:a16="http://schemas.microsoft.com/office/drawing/2014/main" id="{5783305E-675A-5D32-9D9B-A58434BF1DF8}"/>
              </a:ext>
            </a:extLst>
          </p:cNvPr>
          <p:cNvCxnSpPr>
            <a:cxnSpLocks/>
            <a:stCxn id="17" idx="3"/>
            <a:endCxn id="72" idx="3"/>
          </p:cNvCxnSpPr>
          <p:nvPr/>
        </p:nvCxnSpPr>
        <p:spPr>
          <a:xfrm>
            <a:off x="2140050" y="3309332"/>
            <a:ext cx="6335740" cy="1244622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ight Brace 95">
            <a:extLst>
              <a:ext uri="{FF2B5EF4-FFF2-40B4-BE49-F238E27FC236}">
                <a16:creationId xmlns:a16="http://schemas.microsoft.com/office/drawing/2014/main" id="{5580B75F-F48F-B3BF-8C45-57CD020B94F3}"/>
              </a:ext>
            </a:extLst>
          </p:cNvPr>
          <p:cNvSpPr/>
          <p:nvPr/>
        </p:nvSpPr>
        <p:spPr>
          <a:xfrm rot="5400000">
            <a:off x="5632765" y="975965"/>
            <a:ext cx="793719" cy="912434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Isosceles Triangle 104">
            <a:extLst>
              <a:ext uri="{FF2B5EF4-FFF2-40B4-BE49-F238E27FC236}">
                <a16:creationId xmlns:a16="http://schemas.microsoft.com/office/drawing/2014/main" id="{5D232CAE-5DA8-4B09-9E45-4DCAF013E796}"/>
              </a:ext>
            </a:extLst>
          </p:cNvPr>
          <p:cNvSpPr/>
          <p:nvPr/>
        </p:nvSpPr>
        <p:spPr>
          <a:xfrm rot="5400000">
            <a:off x="8585558" y="2577175"/>
            <a:ext cx="228600" cy="179962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5FCCD46-371B-9F22-FF24-3B07DEC26A02}"/>
              </a:ext>
            </a:extLst>
          </p:cNvPr>
          <p:cNvSpPr/>
          <p:nvPr/>
        </p:nvSpPr>
        <p:spPr>
          <a:xfrm>
            <a:off x="128370" y="2966432"/>
            <a:ext cx="20116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AgentCore Gateway</a:t>
            </a:r>
          </a:p>
        </p:txBody>
      </p:sp>
      <p:cxnSp>
        <p:nvCxnSpPr>
          <p:cNvPr id="21" name="Connector 21">
            <a:extLst>
              <a:ext uri="{FF2B5EF4-FFF2-40B4-BE49-F238E27FC236}">
                <a16:creationId xmlns:a16="http://schemas.microsoft.com/office/drawing/2014/main" id="{371C5358-D50E-11BA-0974-D9C68F221ECF}"/>
              </a:ext>
            </a:extLst>
          </p:cNvPr>
          <p:cNvCxnSpPr>
            <a:cxnSpLocks/>
            <a:stCxn id="17" idx="3"/>
            <a:endCxn id="47" idx="3"/>
          </p:cNvCxnSpPr>
          <p:nvPr/>
        </p:nvCxnSpPr>
        <p:spPr>
          <a:xfrm flipV="1">
            <a:off x="2140050" y="795034"/>
            <a:ext cx="6194992" cy="2514298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46">
            <a:extLst>
              <a:ext uri="{FF2B5EF4-FFF2-40B4-BE49-F238E27FC236}">
                <a16:creationId xmlns:a16="http://schemas.microsoft.com/office/drawing/2014/main" id="{97156066-C68F-CB71-F69B-32D039CBD891}"/>
              </a:ext>
            </a:extLst>
          </p:cNvPr>
          <p:cNvSpPr/>
          <p:nvPr/>
        </p:nvSpPr>
        <p:spPr>
          <a:xfrm rot="10800000">
            <a:off x="561590" y="2795448"/>
            <a:ext cx="228600" cy="179962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22">
            <a:extLst>
              <a:ext uri="{FF2B5EF4-FFF2-40B4-BE49-F238E27FC236}">
                <a16:creationId xmlns:a16="http://schemas.microsoft.com/office/drawing/2014/main" id="{19F4D16E-0B3F-020E-1D43-000670F98601}"/>
              </a:ext>
            </a:extLst>
          </p:cNvPr>
          <p:cNvCxnSpPr>
            <a:cxnSpLocks/>
            <a:endCxn id="105" idx="3"/>
          </p:cNvCxnSpPr>
          <p:nvPr/>
        </p:nvCxnSpPr>
        <p:spPr>
          <a:xfrm flipV="1">
            <a:off x="2174443" y="2667156"/>
            <a:ext cx="6435434" cy="673718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46">
            <a:extLst>
              <a:ext uri="{FF2B5EF4-FFF2-40B4-BE49-F238E27FC236}">
                <a16:creationId xmlns:a16="http://schemas.microsoft.com/office/drawing/2014/main" id="{CB633FC0-D502-4851-575D-BA63C0E1C520}"/>
              </a:ext>
            </a:extLst>
          </p:cNvPr>
          <p:cNvSpPr/>
          <p:nvPr/>
        </p:nvSpPr>
        <p:spPr>
          <a:xfrm rot="16200000">
            <a:off x="2081336" y="3219122"/>
            <a:ext cx="228600" cy="179962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7" name="Connector 22">
            <a:extLst>
              <a:ext uri="{FF2B5EF4-FFF2-40B4-BE49-F238E27FC236}">
                <a16:creationId xmlns:a16="http://schemas.microsoft.com/office/drawing/2014/main" id="{828FA97F-5909-3994-B770-283D645B80C1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2013095" y="3604639"/>
            <a:ext cx="42865" cy="245451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22">
            <a:extLst>
              <a:ext uri="{FF2B5EF4-FFF2-40B4-BE49-F238E27FC236}">
                <a16:creationId xmlns:a16="http://schemas.microsoft.com/office/drawing/2014/main" id="{8473FD3C-6A1B-9126-A27F-DB9C3B870041}"/>
              </a:ext>
            </a:extLst>
          </p:cNvPr>
          <p:cNvCxnSpPr>
            <a:cxnSpLocks/>
            <a:endCxn id="32" idx="2"/>
          </p:cNvCxnSpPr>
          <p:nvPr/>
        </p:nvCxnSpPr>
        <p:spPr>
          <a:xfrm flipV="1">
            <a:off x="1986223" y="2829054"/>
            <a:ext cx="1" cy="174961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43A738-4FF7-3760-A0F6-E878DCB17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05A4F-92DB-2B01-E393-8A59AA4BF7C2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8EDDC-488C-5A79-7C2C-CCC7DC7D4322}"/>
              </a:ext>
            </a:extLst>
          </p:cNvPr>
          <p:cNvSpPr txBox="1"/>
          <p:nvPr/>
        </p:nvSpPr>
        <p:spPr>
          <a:xfrm>
            <a:off x="685800" y="91440"/>
            <a:ext cx="633218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dirty="0"/>
              <a:t>AgentCore –Phase</a:t>
            </a:r>
            <a:r>
              <a:rPr dirty="0"/>
              <a:t>s 1</a:t>
            </a:r>
            <a:r>
              <a:rPr lang="en-US" dirty="0"/>
              <a:t> to 6</a:t>
            </a:r>
            <a:r>
              <a:rPr dirty="0"/>
              <a:t> implementation plan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03438AC-87C8-56DA-97DD-8F8FFCA7F913}"/>
              </a:ext>
            </a:extLst>
          </p:cNvPr>
          <p:cNvSpPr/>
          <p:nvPr/>
        </p:nvSpPr>
        <p:spPr>
          <a:xfrm>
            <a:off x="685800" y="123444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5E56C-6244-F19F-E76E-46700A98ADB0}"/>
              </a:ext>
            </a:extLst>
          </p:cNvPr>
          <p:cNvSpPr txBox="1"/>
          <p:nvPr/>
        </p:nvSpPr>
        <p:spPr>
          <a:xfrm>
            <a:off x="914400" y="1417320"/>
            <a:ext cx="29718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4A"/>
                </a:solidFill>
              </a:defRPr>
            </a:pPr>
            <a:r>
              <a:rPr lang="en-US" dirty="0"/>
              <a:t>Phase 1 — POC</a:t>
            </a:r>
          </a:p>
          <a:p>
            <a:pPr>
              <a:defRPr sz="1400" b="1">
                <a:solidFill>
                  <a:srgbClr val="00284A"/>
                </a:solidFill>
              </a:defRPr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lang="en-US" dirty="0" err="1"/>
              <a:t>QnA</a:t>
            </a:r>
            <a:r>
              <a:rPr lang="en-US" dirty="0"/>
              <a:t> agent on Runtime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lang="en-US" dirty="0" err="1"/>
              <a:t>Obs</a:t>
            </a:r>
            <a:r>
              <a:rPr lang="en-US" dirty="0"/>
              <a:t> + Evals wired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lang="en-US" dirty="0"/>
              <a:t>Policy/Identity optional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E6F6EBE-174A-B0B3-22C6-84E05C3562D5}"/>
              </a:ext>
            </a:extLst>
          </p:cNvPr>
          <p:cNvSpPr/>
          <p:nvPr/>
        </p:nvSpPr>
        <p:spPr>
          <a:xfrm>
            <a:off x="4297680" y="123444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F39116-C1AB-F128-F553-871EAA755ACE}"/>
              </a:ext>
            </a:extLst>
          </p:cNvPr>
          <p:cNvSpPr txBox="1"/>
          <p:nvPr/>
        </p:nvSpPr>
        <p:spPr>
          <a:xfrm>
            <a:off x="4526280" y="1417320"/>
            <a:ext cx="315468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4A"/>
                </a:solidFill>
              </a:defRPr>
            </a:pPr>
            <a:r>
              <a:rPr lang="en-US" dirty="0"/>
              <a:t>Phase 2</a:t>
            </a:r>
            <a:r>
              <a:rPr dirty="0"/>
              <a:t>— </a:t>
            </a:r>
            <a:r>
              <a:rPr lang="en-US" dirty="0"/>
              <a:t>Summarization Agent</a:t>
            </a:r>
          </a:p>
          <a:p>
            <a:pPr>
              <a:defRPr sz="1400" b="1">
                <a:solidFill>
                  <a:srgbClr val="00284A"/>
                </a:solidFill>
              </a:defRPr>
            </a:pP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dirty="0"/>
              <a:t>Summarization agent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dirty="0"/>
              <a:t>Identity for Lambda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dirty="0"/>
              <a:t>Policy + </a:t>
            </a:r>
            <a:r>
              <a:rPr dirty="0" err="1"/>
              <a:t>Obs</a:t>
            </a:r>
            <a:r>
              <a:rPr dirty="0"/>
              <a:t> + Evals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9D536F-2082-982F-8F12-9E5AEFF45494}"/>
              </a:ext>
            </a:extLst>
          </p:cNvPr>
          <p:cNvSpPr/>
          <p:nvPr/>
        </p:nvSpPr>
        <p:spPr>
          <a:xfrm>
            <a:off x="7909560" y="123444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B2FA2F-ECD6-6D2B-80C3-569BD8060A37}"/>
              </a:ext>
            </a:extLst>
          </p:cNvPr>
          <p:cNvSpPr txBox="1"/>
          <p:nvPr/>
        </p:nvSpPr>
        <p:spPr>
          <a:xfrm>
            <a:off x="8138160" y="1417320"/>
            <a:ext cx="2971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4A"/>
                </a:solidFill>
              </a:defRPr>
            </a:pPr>
            <a:r>
              <a:rPr lang="en-US" dirty="0"/>
              <a:t>Phase 3 — Specialist Agents </a:t>
            </a:r>
          </a:p>
          <a:p>
            <a:pPr>
              <a:defRPr sz="1400" b="1">
                <a:solidFill>
                  <a:srgbClr val="00284A"/>
                </a:solidFill>
              </a:defRPr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lang="en-US" dirty="0"/>
              <a:t>ASK Router Agent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lang="en-US" dirty="0"/>
              <a:t>Meeting Summarization Router Agent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lang="en-US" dirty="0"/>
              <a:t>Gateway tool endpoints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lang="en-US" dirty="0" err="1"/>
              <a:t>Obs</a:t>
            </a:r>
            <a:r>
              <a:rPr lang="en-US" dirty="0"/>
              <a:t> + Evals across agents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C5F06A4-BBA2-3983-0A58-11594766022E}"/>
              </a:ext>
            </a:extLst>
          </p:cNvPr>
          <p:cNvSpPr/>
          <p:nvPr/>
        </p:nvSpPr>
        <p:spPr>
          <a:xfrm>
            <a:off x="685800" y="384048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CC081E-D8A6-42AC-37C5-0FE08115FCD8}"/>
              </a:ext>
            </a:extLst>
          </p:cNvPr>
          <p:cNvSpPr txBox="1"/>
          <p:nvPr/>
        </p:nvSpPr>
        <p:spPr>
          <a:xfrm>
            <a:off x="914400" y="4023360"/>
            <a:ext cx="2971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4A"/>
                </a:solidFill>
              </a:defRPr>
            </a:pPr>
            <a:r>
              <a:rPr lang="en-US" dirty="0"/>
              <a:t>Phase 4 — Supervisor Agent</a:t>
            </a:r>
          </a:p>
          <a:p>
            <a:pPr>
              <a:defRPr sz="1400" b="1">
                <a:solidFill>
                  <a:srgbClr val="00284A"/>
                </a:solidFill>
              </a:defRPr>
            </a:pPr>
            <a:endParaRPr lang="en-US" dirty="0"/>
          </a:p>
          <a:p>
            <a:pPr>
              <a:defRPr sz="1100">
                <a:solidFill>
                  <a:srgbClr val="4D4E53"/>
                </a:solidFill>
              </a:defRPr>
            </a:pPr>
            <a:r>
              <a:rPr lang="en-US" dirty="0"/>
              <a:t>Master → ASK/MS router Agents</a:t>
            </a:r>
          </a:p>
          <a:p>
            <a:pPr>
              <a:defRPr sz="1100">
                <a:solidFill>
                  <a:srgbClr val="4D4E53"/>
                </a:solidFill>
              </a:defRPr>
            </a:pPr>
            <a:r>
              <a:rPr lang="en-US" dirty="0"/>
              <a:t>Gateway tool endpoints</a:t>
            </a:r>
          </a:p>
          <a:p>
            <a:pPr>
              <a:defRPr sz="1100">
                <a:solidFill>
                  <a:srgbClr val="4D4E53"/>
                </a:solidFill>
              </a:defRPr>
            </a:pPr>
            <a:r>
              <a:rPr lang="en-US" dirty="0" err="1"/>
              <a:t>Obs</a:t>
            </a:r>
            <a:r>
              <a:rPr lang="en-US" dirty="0"/>
              <a:t> + Evals across agents</a:t>
            </a:r>
          </a:p>
          <a:p>
            <a:pPr>
              <a:defRPr sz="1100">
                <a:solidFill>
                  <a:srgbClr val="4D4E53"/>
                </a:solidFill>
              </a:defRPr>
            </a:pPr>
            <a:endParaRPr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20DF491-8DD0-F74B-6DB2-8C0AA3FF7711}"/>
              </a:ext>
            </a:extLst>
          </p:cNvPr>
          <p:cNvSpPr/>
          <p:nvPr/>
        </p:nvSpPr>
        <p:spPr>
          <a:xfrm>
            <a:off x="4297680" y="384048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550108-4EAF-AA95-1BAE-16150A8AE904}"/>
              </a:ext>
            </a:extLst>
          </p:cNvPr>
          <p:cNvSpPr txBox="1"/>
          <p:nvPr/>
        </p:nvSpPr>
        <p:spPr>
          <a:xfrm>
            <a:off x="4526280" y="4023360"/>
            <a:ext cx="2971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4A"/>
                </a:solidFill>
              </a:defRPr>
            </a:pPr>
            <a:r>
              <a:rPr lang="en-US" dirty="0"/>
              <a:t>Phase 5 — Memory &amp; Identity </a:t>
            </a:r>
          </a:p>
          <a:p>
            <a:pPr>
              <a:defRPr sz="1400" b="1">
                <a:solidFill>
                  <a:srgbClr val="00284A"/>
                </a:solidFill>
              </a:defRPr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lang="en-US" dirty="0"/>
              <a:t>Memory strategies on routers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lang="en-US" dirty="0"/>
              <a:t>Policy per URL/tool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lang="en-US" dirty="0"/>
              <a:t>Identity via Master</a:t>
            </a:r>
          </a:p>
          <a:p>
            <a:pPr>
              <a:defRPr sz="1100">
                <a:solidFill>
                  <a:srgbClr val="4D4E53"/>
                </a:solidFill>
              </a:defRPr>
            </a:pPr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1D635EE-82D6-7A2B-82C6-7DE15BE5A07F}"/>
              </a:ext>
            </a:extLst>
          </p:cNvPr>
          <p:cNvSpPr/>
          <p:nvPr/>
        </p:nvSpPr>
        <p:spPr>
          <a:xfrm>
            <a:off x="7909560" y="384048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218F85-D1B5-4125-27F1-5EB9FC1D2C7C}"/>
              </a:ext>
            </a:extLst>
          </p:cNvPr>
          <p:cNvSpPr txBox="1"/>
          <p:nvPr/>
        </p:nvSpPr>
        <p:spPr>
          <a:xfrm>
            <a:off x="8138160" y="4023360"/>
            <a:ext cx="2971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84A"/>
                </a:solidFill>
              </a:defRPr>
            </a:pPr>
            <a:r>
              <a:rPr lang="en-US" dirty="0"/>
              <a:t>Phase</a:t>
            </a:r>
            <a:r>
              <a:rPr dirty="0"/>
              <a:t> </a:t>
            </a:r>
            <a:r>
              <a:rPr lang="en-US" dirty="0"/>
              <a:t>6</a:t>
            </a:r>
            <a:r>
              <a:rPr dirty="0"/>
              <a:t> — Future</a:t>
            </a:r>
            <a:r>
              <a:rPr lang="en-US" dirty="0"/>
              <a:t> </a:t>
            </a:r>
            <a:r>
              <a:rPr lang="en-US" dirty="0" err="1"/>
              <a:t>Optionals</a:t>
            </a:r>
            <a:endParaRPr dirty="0"/>
          </a:p>
          <a:p>
            <a:pPr>
              <a:defRPr sz="1100">
                <a:solidFill>
                  <a:srgbClr val="4D4E53"/>
                </a:solidFill>
              </a:defRPr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lang="en-US" dirty="0"/>
              <a:t>Summarization </a:t>
            </a:r>
            <a:r>
              <a:rPr dirty="0"/>
              <a:t>Orchestrator </a:t>
            </a:r>
            <a:r>
              <a:rPr lang="en-US" dirty="0"/>
              <a:t>A</a:t>
            </a:r>
            <a:r>
              <a:rPr dirty="0"/>
              <a:t>gent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D4E53"/>
                </a:solidFill>
              </a:defRPr>
            </a:pPr>
            <a:r>
              <a:rPr lang="en-US" dirty="0"/>
              <a:t>Knowledge </a:t>
            </a:r>
            <a:r>
              <a:rPr dirty="0"/>
              <a:t>Vectorization</a:t>
            </a:r>
            <a:r>
              <a:rPr lang="en-US" dirty="0"/>
              <a:t> Agent</a:t>
            </a:r>
          </a:p>
          <a:p>
            <a:pPr>
              <a:defRPr sz="1100">
                <a:solidFill>
                  <a:srgbClr val="4D4E53"/>
                </a:solidFill>
              </a:defRPr>
            </a:pPr>
            <a:endParaRPr lang="en-US" dirty="0"/>
          </a:p>
          <a:p>
            <a:pPr>
              <a:defRPr sz="1100">
                <a:solidFill>
                  <a:srgbClr val="4D4E53"/>
                </a:solidFill>
              </a:defRPr>
            </a:pPr>
            <a:endParaRPr lang="en-US" dirty="0"/>
          </a:p>
          <a:p>
            <a:pPr>
              <a:defRPr sz="1100">
                <a:solidFill>
                  <a:srgbClr val="4D4E53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6024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201EB-A8DC-9B8F-8F89-29861DCC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36C425-F1CE-B2D5-8ECA-BF8FB5767646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38C3D-69E5-BADA-7FB8-79B59DA165CA}"/>
              </a:ext>
            </a:extLst>
          </p:cNvPr>
          <p:cNvSpPr txBox="1"/>
          <p:nvPr/>
        </p:nvSpPr>
        <p:spPr>
          <a:xfrm>
            <a:off x="685800" y="91440"/>
            <a:ext cx="923682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IN" sz="2200" b="1" dirty="0"/>
              <a:t>POC 1</a:t>
            </a:r>
            <a:r>
              <a:rPr dirty="0"/>
              <a:t> — </a:t>
            </a:r>
            <a:r>
              <a:rPr lang="en-IN" sz="2200" b="1" dirty="0"/>
              <a:t>Deploy simple </a:t>
            </a:r>
            <a:r>
              <a:rPr lang="en-IN" sz="2200" b="1" dirty="0" err="1"/>
              <a:t>QnA</a:t>
            </a:r>
            <a:r>
              <a:rPr lang="en-IN" sz="2200" b="1" dirty="0"/>
              <a:t> </a:t>
            </a:r>
            <a:r>
              <a:rPr lang="en-IN" sz="2200" b="1" dirty="0" err="1"/>
              <a:t>LangGraph</a:t>
            </a:r>
            <a:r>
              <a:rPr lang="en-IN" sz="2200" b="1" dirty="0"/>
              <a:t> agent using </a:t>
            </a:r>
            <a:r>
              <a:rPr lang="en-IN" sz="2200" b="1" dirty="0" err="1"/>
              <a:t>AgentCore</a:t>
            </a:r>
            <a:r>
              <a:rPr lang="en-IN" sz="2200" b="1" dirty="0"/>
              <a:t> runtime</a:t>
            </a:r>
            <a:endParaRPr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5131DE-4D66-DC1F-BE80-3483C3772F4C}"/>
              </a:ext>
            </a:extLst>
          </p:cNvPr>
          <p:cNvSpPr/>
          <p:nvPr/>
        </p:nvSpPr>
        <p:spPr>
          <a:xfrm>
            <a:off x="685800" y="1234440"/>
            <a:ext cx="55778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ECFB4E-F9B7-2E1E-93E5-C1E8CF92773E}"/>
              </a:ext>
            </a:extLst>
          </p:cNvPr>
          <p:cNvSpPr txBox="1"/>
          <p:nvPr/>
        </p:nvSpPr>
        <p:spPr>
          <a:xfrm>
            <a:off x="914400" y="1417320"/>
            <a:ext cx="512064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84A"/>
                </a:solidFill>
              </a:defRPr>
            </a:pPr>
            <a:r>
              <a:rPr dirty="0"/>
              <a:t>Scope &amp; deliverables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IN" sz="1200" b="1" dirty="0"/>
              <a:t>Description:</a:t>
            </a:r>
            <a:r>
              <a:rPr lang="en-IN" sz="1200" dirty="0"/>
              <a:t> Demonstrates basic agent deployment using </a:t>
            </a:r>
            <a:r>
              <a:rPr lang="en-IN" sz="1200" dirty="0" err="1"/>
              <a:t>LangGraph</a:t>
            </a:r>
            <a:r>
              <a:rPr lang="en-IN" sz="1200" dirty="0"/>
              <a:t> framework on </a:t>
            </a:r>
            <a:r>
              <a:rPr lang="en-IN" sz="1200" dirty="0" err="1"/>
              <a:t>AgentCore</a:t>
            </a:r>
            <a:r>
              <a:rPr lang="en-IN" sz="1200" dirty="0"/>
              <a:t> runtime environment</a:t>
            </a:r>
            <a:r>
              <a:rPr lang="en-US" dirty="0"/>
              <a:t>Develop and </a:t>
            </a:r>
            <a:r>
              <a:rPr dirty="0"/>
              <a:t>Implement</a:t>
            </a:r>
            <a:endParaRPr lang="en-IN"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IN" dirty="0"/>
              <a:t>Deploy on </a:t>
            </a:r>
            <a:r>
              <a:rPr lang="en-IN" b="1" dirty="0" err="1"/>
              <a:t>AgentCore</a:t>
            </a:r>
            <a:r>
              <a:rPr lang="en-IN" b="1" dirty="0"/>
              <a:t> Runtime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dirty="0"/>
              <a:t>Enable</a:t>
            </a:r>
            <a:r>
              <a:rPr lang="en-US" dirty="0"/>
              <a:t> </a:t>
            </a:r>
            <a:r>
              <a:rPr lang="en-IN" b="1" dirty="0" err="1"/>
              <a:t>AgentCore</a:t>
            </a:r>
            <a:r>
              <a:rPr dirty="0"/>
              <a:t> </a:t>
            </a:r>
            <a:r>
              <a:rPr b="1" dirty="0"/>
              <a:t>Observability </a:t>
            </a:r>
            <a:r>
              <a:rPr dirty="0"/>
              <a:t>(traces/metrics)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dirty="0"/>
              <a:t>Enable </a:t>
            </a:r>
            <a:r>
              <a:rPr lang="en-IN" b="1" dirty="0" err="1"/>
              <a:t>AgentCore</a:t>
            </a:r>
            <a:r>
              <a:rPr lang="en-IN" b="1" dirty="0"/>
              <a:t>  </a:t>
            </a:r>
            <a:r>
              <a:rPr b="1" dirty="0"/>
              <a:t>Evaluations</a:t>
            </a:r>
            <a:r>
              <a:rPr dirty="0"/>
              <a:t> (quality baselines)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Optional: Enable </a:t>
            </a:r>
            <a:r>
              <a:rPr lang="en-US" b="1" dirty="0"/>
              <a:t>Gateway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Optional: Integrate </a:t>
            </a:r>
            <a:r>
              <a:rPr lang="en-US" b="1" dirty="0"/>
              <a:t>Identity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Optional: Integrate </a:t>
            </a:r>
            <a:r>
              <a:rPr lang="en-US" b="1" dirty="0"/>
              <a:t>Policy</a:t>
            </a:r>
            <a:r>
              <a:rPr lang="en-US" dirty="0"/>
              <a:t> where tool actions exist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0119AC4-6ED5-5F83-0F63-E75CA288606A}"/>
              </a:ext>
            </a:extLst>
          </p:cNvPr>
          <p:cNvSpPr/>
          <p:nvPr/>
        </p:nvSpPr>
        <p:spPr>
          <a:xfrm>
            <a:off x="6400800" y="1234440"/>
            <a:ext cx="5257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5DCE535-EE90-1120-8479-9359A6FD8267}"/>
              </a:ext>
            </a:extLst>
          </p:cNvPr>
          <p:cNvSpPr/>
          <p:nvPr/>
        </p:nvSpPr>
        <p:spPr>
          <a:xfrm>
            <a:off x="6629400" y="1737360"/>
            <a:ext cx="1554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Users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05AC36F-B6B3-0B81-D82E-46789325A718}"/>
              </a:ext>
            </a:extLst>
          </p:cNvPr>
          <p:cNvSpPr/>
          <p:nvPr/>
        </p:nvSpPr>
        <p:spPr>
          <a:xfrm>
            <a:off x="8549640" y="1737360"/>
            <a:ext cx="17373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t>Runtime</a:t>
            </a:r>
            <a:br/>
            <a:r>
              <a:t>(QnA)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EBED9A2-343A-C348-14C7-980774A8A947}"/>
              </a:ext>
            </a:extLst>
          </p:cNvPr>
          <p:cNvSpPr/>
          <p:nvPr/>
        </p:nvSpPr>
        <p:spPr>
          <a:xfrm>
            <a:off x="10607040" y="1737360"/>
            <a:ext cx="9144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t>Model</a:t>
            </a:r>
          </a:p>
        </p:txBody>
      </p: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9B474E1A-C39D-4DC6-50F0-4448F6F054D8}"/>
              </a:ext>
            </a:extLst>
          </p:cNvPr>
          <p:cNvCxnSpPr/>
          <p:nvPr/>
        </p:nvCxnSpPr>
        <p:spPr>
          <a:xfrm>
            <a:off x="8183879" y="2075688"/>
            <a:ext cx="365761" cy="0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2716DB9B-1BC5-8113-90FD-81080D64242B}"/>
              </a:ext>
            </a:extLst>
          </p:cNvPr>
          <p:cNvSpPr/>
          <p:nvPr/>
        </p:nvSpPr>
        <p:spPr>
          <a:xfrm rot="5400000">
            <a:off x="8484870" y="2010918"/>
            <a:ext cx="83820" cy="45720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C7E83A73-A7A5-AB85-8C45-BDC4C5A8F9B8}"/>
              </a:ext>
            </a:extLst>
          </p:cNvPr>
          <p:cNvCxnSpPr/>
          <p:nvPr/>
        </p:nvCxnSpPr>
        <p:spPr>
          <a:xfrm>
            <a:off x="10287000" y="2075688"/>
            <a:ext cx="320040" cy="0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AF1AAEE-0B24-2EE2-A72E-9664928E4D96}"/>
              </a:ext>
            </a:extLst>
          </p:cNvPr>
          <p:cNvSpPr/>
          <p:nvPr/>
        </p:nvSpPr>
        <p:spPr>
          <a:xfrm rot="5400000">
            <a:off x="10520398" y="2025396"/>
            <a:ext cx="100584" cy="100584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E347325-1586-D25D-8495-9D8C67E28896}"/>
              </a:ext>
            </a:extLst>
          </p:cNvPr>
          <p:cNvSpPr/>
          <p:nvPr/>
        </p:nvSpPr>
        <p:spPr>
          <a:xfrm>
            <a:off x="6629400" y="2743200"/>
            <a:ext cx="15544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t>Identity</a:t>
            </a:r>
            <a:br/>
            <a:r>
              <a:t>(optional)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F3BE670-5F6B-773E-DB44-4C28D188A766}"/>
              </a:ext>
            </a:extLst>
          </p:cNvPr>
          <p:cNvSpPr/>
          <p:nvPr/>
        </p:nvSpPr>
        <p:spPr>
          <a:xfrm>
            <a:off x="7680960" y="3393948"/>
            <a:ext cx="173736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t>Policy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3466F47-16D5-1A1A-A27F-CF5030731BD9}"/>
              </a:ext>
            </a:extLst>
          </p:cNvPr>
          <p:cNvSpPr/>
          <p:nvPr/>
        </p:nvSpPr>
        <p:spPr>
          <a:xfrm>
            <a:off x="10607040" y="2743200"/>
            <a:ext cx="9144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t>Obs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0960FB0-FA15-16B7-1C10-7AFF8B4D7AB6}"/>
              </a:ext>
            </a:extLst>
          </p:cNvPr>
          <p:cNvSpPr/>
          <p:nvPr/>
        </p:nvSpPr>
        <p:spPr>
          <a:xfrm>
            <a:off x="9829800" y="3401658"/>
            <a:ext cx="9144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t>Evals</a:t>
            </a:r>
          </a:p>
        </p:txBody>
      </p: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5F196530-870F-BF5E-3E72-3D68E080AD3F}"/>
              </a:ext>
            </a:extLst>
          </p:cNvPr>
          <p:cNvCxnSpPr/>
          <p:nvPr/>
        </p:nvCxnSpPr>
        <p:spPr>
          <a:xfrm flipH="1">
            <a:off x="7360920" y="2514600"/>
            <a:ext cx="2057400" cy="228600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193DD479-0070-F94E-3019-A3BBDDB77CAF}"/>
              </a:ext>
            </a:extLst>
          </p:cNvPr>
          <p:cNvCxnSpPr>
            <a:cxnSpLocks/>
          </p:cNvCxnSpPr>
          <p:nvPr/>
        </p:nvCxnSpPr>
        <p:spPr>
          <a:xfrm flipH="1">
            <a:off x="8549640" y="2514600"/>
            <a:ext cx="868680" cy="879348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9E618C3C-8D92-CFAC-70D0-A2A41A287117}"/>
              </a:ext>
            </a:extLst>
          </p:cNvPr>
          <p:cNvCxnSpPr/>
          <p:nvPr/>
        </p:nvCxnSpPr>
        <p:spPr>
          <a:xfrm>
            <a:off x="9418320" y="2514600"/>
            <a:ext cx="1645920" cy="228600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D9255791-C1E2-A901-C2E1-2B035EA9EB16}"/>
              </a:ext>
            </a:extLst>
          </p:cNvPr>
          <p:cNvCxnSpPr>
            <a:cxnSpLocks/>
          </p:cNvCxnSpPr>
          <p:nvPr/>
        </p:nvCxnSpPr>
        <p:spPr>
          <a:xfrm>
            <a:off x="9418320" y="2514600"/>
            <a:ext cx="822960" cy="879348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462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D3B0E-B84D-5B49-C25B-62EBF7576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5E28AE-E4C6-CF74-2015-EDD86458F581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708AC-36C7-50C2-21CB-A24B130629A6}"/>
              </a:ext>
            </a:extLst>
          </p:cNvPr>
          <p:cNvSpPr txBox="1"/>
          <p:nvPr/>
        </p:nvSpPr>
        <p:spPr>
          <a:xfrm>
            <a:off x="685800" y="91440"/>
            <a:ext cx="608211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dirty="0"/>
              <a:t>Phase</a:t>
            </a:r>
            <a:r>
              <a:rPr dirty="0"/>
              <a:t> 2 — MS pipeline (Summarization Agent)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BE971A6-E7CC-F8C5-7E8E-B8D01DF26E40}"/>
              </a:ext>
            </a:extLst>
          </p:cNvPr>
          <p:cNvSpPr/>
          <p:nvPr/>
        </p:nvSpPr>
        <p:spPr>
          <a:xfrm>
            <a:off x="685800" y="1234440"/>
            <a:ext cx="55778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8F9504-3932-9CAB-40A6-B388889A6AAC}"/>
              </a:ext>
            </a:extLst>
          </p:cNvPr>
          <p:cNvSpPr txBox="1"/>
          <p:nvPr/>
        </p:nvSpPr>
        <p:spPr>
          <a:xfrm>
            <a:off x="914400" y="1417320"/>
            <a:ext cx="543153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84A"/>
                </a:solidFill>
              </a:defRPr>
            </a:pPr>
            <a:r>
              <a:rPr dirty="0"/>
              <a:t>Scope &amp; deliverables</a:t>
            </a:r>
            <a:endParaRPr lang="en-US" dirty="0"/>
          </a:p>
          <a:p>
            <a:pPr>
              <a:defRPr sz="1600" b="1">
                <a:solidFill>
                  <a:srgbClr val="00284A"/>
                </a:solidFill>
              </a:defRPr>
            </a:pP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b="1" dirty="0"/>
              <a:t>Orchestrator Lambda </a:t>
            </a:r>
            <a:r>
              <a:rPr dirty="0"/>
              <a:t>invokes </a:t>
            </a:r>
            <a:r>
              <a:rPr b="1" dirty="0"/>
              <a:t>Summarization agent</a:t>
            </a: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Summarization agent developed using current batch </a:t>
            </a:r>
            <a:r>
              <a:rPr lang="en-US" b="1" dirty="0"/>
              <a:t>LangGraph</a:t>
            </a:r>
            <a:r>
              <a:rPr lang="en-US" dirty="0"/>
              <a:t> learnings</a:t>
            </a: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dirty="0"/>
              <a:t>Summarization agent hosted on </a:t>
            </a:r>
            <a:r>
              <a:rPr b="1" dirty="0"/>
              <a:t>AgentCore Runtime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dirty="0"/>
              <a:t>Integrate </a:t>
            </a:r>
            <a:r>
              <a:rPr b="1" dirty="0"/>
              <a:t>Identity</a:t>
            </a:r>
            <a:r>
              <a:rPr dirty="0"/>
              <a:t> for Lambda (as needed)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dirty="0"/>
              <a:t>Enforce </a:t>
            </a:r>
            <a:r>
              <a:rPr b="1" dirty="0"/>
              <a:t>Policy</a:t>
            </a:r>
            <a:r>
              <a:rPr dirty="0"/>
              <a:t> for tool/API boundaries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dirty="0"/>
              <a:t>Enable </a:t>
            </a:r>
            <a:r>
              <a:rPr b="1" dirty="0"/>
              <a:t>Observability + Evaluations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0312138-D5F3-7B58-4189-B0177F24D64C}"/>
              </a:ext>
            </a:extLst>
          </p:cNvPr>
          <p:cNvSpPr/>
          <p:nvPr/>
        </p:nvSpPr>
        <p:spPr>
          <a:xfrm>
            <a:off x="6373096" y="1234440"/>
            <a:ext cx="5638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08ABF30-47D6-F711-2FB3-0A1803E7E7FF}"/>
              </a:ext>
            </a:extLst>
          </p:cNvPr>
          <p:cNvSpPr/>
          <p:nvPr/>
        </p:nvSpPr>
        <p:spPr>
          <a:xfrm>
            <a:off x="6629400" y="1828800"/>
            <a:ext cx="18288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t>Orchestrator</a:t>
            </a:r>
            <a:br/>
            <a:r>
              <a:t>Lambda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8F8820B-12C7-907F-2587-B7C48B17C745}"/>
              </a:ext>
            </a:extLst>
          </p:cNvPr>
          <p:cNvSpPr/>
          <p:nvPr/>
        </p:nvSpPr>
        <p:spPr>
          <a:xfrm>
            <a:off x="8823960" y="1828800"/>
            <a:ext cx="17373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t>Summarization</a:t>
            </a:r>
            <a:br/>
            <a:r>
              <a:t>Agent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0B9EFBD-F946-C42E-17D1-2860F6771FEA}"/>
              </a:ext>
            </a:extLst>
          </p:cNvPr>
          <p:cNvSpPr/>
          <p:nvPr/>
        </p:nvSpPr>
        <p:spPr>
          <a:xfrm>
            <a:off x="10812327" y="1828800"/>
            <a:ext cx="1111449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lang="en-US" dirty="0" err="1"/>
              <a:t>NoSql</a:t>
            </a:r>
            <a:r>
              <a:rPr lang="en-US" dirty="0"/>
              <a:t> Database</a:t>
            </a:r>
            <a:endParaRPr dirty="0"/>
          </a:p>
        </p:txBody>
      </p: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A077C6F5-4F25-F80A-8372-16C43397B4EA}"/>
              </a:ext>
            </a:extLst>
          </p:cNvPr>
          <p:cNvCxnSpPr/>
          <p:nvPr/>
        </p:nvCxnSpPr>
        <p:spPr>
          <a:xfrm>
            <a:off x="8458200" y="2148840"/>
            <a:ext cx="365760" cy="0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C912572-2316-9F2F-C4B0-F88A6C10BEBE}"/>
              </a:ext>
            </a:extLst>
          </p:cNvPr>
          <p:cNvSpPr/>
          <p:nvPr/>
        </p:nvSpPr>
        <p:spPr>
          <a:xfrm rot="5400000">
            <a:off x="8723376" y="2098548"/>
            <a:ext cx="100584" cy="100584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A915E42B-6BE9-CC03-A85D-A759E10028A4}"/>
              </a:ext>
            </a:extLst>
          </p:cNvPr>
          <p:cNvCxnSpPr/>
          <p:nvPr/>
        </p:nvCxnSpPr>
        <p:spPr>
          <a:xfrm>
            <a:off x="10561320" y="2148840"/>
            <a:ext cx="182880" cy="0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7D87232A-0A01-CB8A-8A50-DE72CFE2143B}"/>
              </a:ext>
            </a:extLst>
          </p:cNvPr>
          <p:cNvSpPr/>
          <p:nvPr/>
        </p:nvSpPr>
        <p:spPr>
          <a:xfrm rot="5400000">
            <a:off x="10711743" y="2084069"/>
            <a:ext cx="100584" cy="100584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79EBC37-E1B9-BE3A-B28D-AE1635F251B6}"/>
              </a:ext>
            </a:extLst>
          </p:cNvPr>
          <p:cNvSpPr/>
          <p:nvPr/>
        </p:nvSpPr>
        <p:spPr>
          <a:xfrm>
            <a:off x="7694676" y="2834640"/>
            <a:ext cx="763524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t>Identity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9B40906-A699-9FF0-1DE8-7A8278AFE561}"/>
              </a:ext>
            </a:extLst>
          </p:cNvPr>
          <p:cNvSpPr/>
          <p:nvPr/>
        </p:nvSpPr>
        <p:spPr>
          <a:xfrm>
            <a:off x="8823960" y="3719618"/>
            <a:ext cx="763524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Policy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8519F97-C419-9E1B-8188-A22E70B2A9A8}"/>
              </a:ext>
            </a:extLst>
          </p:cNvPr>
          <p:cNvSpPr/>
          <p:nvPr/>
        </p:nvSpPr>
        <p:spPr>
          <a:xfrm>
            <a:off x="10069627" y="3702189"/>
            <a:ext cx="763523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 err="1"/>
              <a:t>Obs</a:t>
            </a:r>
            <a:endParaRPr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DFC38BB-17C9-D88A-3944-B16EFE0AB140}"/>
              </a:ext>
            </a:extLst>
          </p:cNvPr>
          <p:cNvSpPr/>
          <p:nvPr/>
        </p:nvSpPr>
        <p:spPr>
          <a:xfrm>
            <a:off x="10977372" y="2902578"/>
            <a:ext cx="763523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Evals</a:t>
            </a:r>
          </a:p>
        </p:txBody>
      </p:sp>
      <p:cxnSp>
        <p:nvCxnSpPr>
          <p:cNvPr id="24" name="Connector 22">
            <a:extLst>
              <a:ext uri="{FF2B5EF4-FFF2-40B4-BE49-F238E27FC236}">
                <a16:creationId xmlns:a16="http://schemas.microsoft.com/office/drawing/2014/main" id="{5B2E0A6A-70AF-BB60-5886-9D8002C7944A}"/>
              </a:ext>
            </a:extLst>
          </p:cNvPr>
          <p:cNvCxnSpPr>
            <a:cxnSpLocks/>
          </p:cNvCxnSpPr>
          <p:nvPr/>
        </p:nvCxnSpPr>
        <p:spPr>
          <a:xfrm flipH="1">
            <a:off x="8458200" y="2543744"/>
            <a:ext cx="1321580" cy="518439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2">
            <a:extLst>
              <a:ext uri="{FF2B5EF4-FFF2-40B4-BE49-F238E27FC236}">
                <a16:creationId xmlns:a16="http://schemas.microsoft.com/office/drawing/2014/main" id="{B5D1495D-9E97-BB70-C549-C486AAA826FF}"/>
              </a:ext>
            </a:extLst>
          </p:cNvPr>
          <p:cNvCxnSpPr>
            <a:cxnSpLocks/>
          </p:cNvCxnSpPr>
          <p:nvPr/>
        </p:nvCxnSpPr>
        <p:spPr>
          <a:xfrm flipV="1">
            <a:off x="9205722" y="2561173"/>
            <a:ext cx="618296" cy="1141016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2">
            <a:extLst>
              <a:ext uri="{FF2B5EF4-FFF2-40B4-BE49-F238E27FC236}">
                <a16:creationId xmlns:a16="http://schemas.microsoft.com/office/drawing/2014/main" id="{3D283E81-46C9-96DC-06C7-C8CC1DCB2EDD}"/>
              </a:ext>
            </a:extLst>
          </p:cNvPr>
          <p:cNvCxnSpPr>
            <a:cxnSpLocks/>
          </p:cNvCxnSpPr>
          <p:nvPr/>
        </p:nvCxnSpPr>
        <p:spPr>
          <a:xfrm flipH="1" flipV="1">
            <a:off x="9829800" y="2574126"/>
            <a:ext cx="533400" cy="1083474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2">
            <a:extLst>
              <a:ext uri="{FF2B5EF4-FFF2-40B4-BE49-F238E27FC236}">
                <a16:creationId xmlns:a16="http://schemas.microsoft.com/office/drawing/2014/main" id="{C625FF78-246E-A75E-88E5-B874DEE07280}"/>
              </a:ext>
            </a:extLst>
          </p:cNvPr>
          <p:cNvCxnSpPr>
            <a:cxnSpLocks/>
          </p:cNvCxnSpPr>
          <p:nvPr/>
        </p:nvCxnSpPr>
        <p:spPr>
          <a:xfrm flipH="1" flipV="1">
            <a:off x="9851178" y="2527553"/>
            <a:ext cx="1505779" cy="290601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363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867897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dirty="0"/>
              <a:t>Phase</a:t>
            </a:r>
            <a:r>
              <a:rPr dirty="0"/>
              <a:t> 3 — </a:t>
            </a:r>
            <a:r>
              <a:rPr lang="en-US" dirty="0"/>
              <a:t>Service Agents </a:t>
            </a:r>
            <a:r>
              <a:rPr dirty="0"/>
              <a:t>(ASK</a:t>
            </a:r>
            <a:r>
              <a:rPr lang="en-US" dirty="0"/>
              <a:t> Router, </a:t>
            </a:r>
            <a:r>
              <a:rPr dirty="0"/>
              <a:t>MS Router</a:t>
            </a:r>
            <a:r>
              <a:rPr lang="en-US" dirty="0"/>
              <a:t> &amp; Other Agents</a:t>
            </a:r>
            <a:r>
              <a:rPr dirty="0"/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5778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12064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84A"/>
                </a:solidFill>
              </a:defRPr>
            </a:pPr>
            <a:r>
              <a:rPr dirty="0"/>
              <a:t>Scope &amp; deliverables</a:t>
            </a:r>
            <a:endParaRPr lang="en-US" dirty="0"/>
          </a:p>
          <a:p>
            <a:pPr>
              <a:defRPr sz="1600" b="1">
                <a:solidFill>
                  <a:srgbClr val="00284A"/>
                </a:solidFill>
              </a:defRPr>
            </a:pP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dirty="0"/>
              <a:t>Create ASK Router </a:t>
            </a:r>
            <a:r>
              <a:rPr lang="en-US" dirty="0"/>
              <a:t>A</a:t>
            </a:r>
            <a:r>
              <a:rPr dirty="0"/>
              <a:t>gent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Deploy AgentCore </a:t>
            </a:r>
            <a:r>
              <a:rPr lang="en-US" b="1" dirty="0"/>
              <a:t>Runtime</a:t>
            </a:r>
            <a:r>
              <a:rPr lang="en-US" sz="1200" dirty="0"/>
              <a:t>	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Integrate </a:t>
            </a:r>
            <a:r>
              <a:rPr lang="en-US" b="1" dirty="0"/>
              <a:t>Gateway</a:t>
            </a:r>
            <a:r>
              <a:rPr lang="en-US" dirty="0"/>
              <a:t> endpoints (ASK router URL)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Enable </a:t>
            </a:r>
            <a:r>
              <a:rPr lang="en-US" b="1" dirty="0"/>
              <a:t>Observability </a:t>
            </a:r>
            <a:r>
              <a:rPr lang="en-US" dirty="0"/>
              <a:t>(traces/metrics)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Enable </a:t>
            </a:r>
            <a:r>
              <a:rPr lang="en-US" b="1" dirty="0"/>
              <a:t>Evaluations</a:t>
            </a:r>
            <a:r>
              <a:rPr lang="en-US" dirty="0"/>
              <a:t> (quality baselines)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Enable A2A or MCP</a:t>
            </a:r>
          </a:p>
          <a:p>
            <a:pPr lvl="1">
              <a:defRPr sz="1200">
                <a:solidFill>
                  <a:srgbClr val="4D4E53"/>
                </a:solidFill>
              </a:defRPr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dirty="0"/>
              <a:t>Create MS Router </a:t>
            </a:r>
            <a:r>
              <a:rPr lang="en-US" dirty="0"/>
              <a:t>A</a:t>
            </a:r>
            <a:r>
              <a:rPr dirty="0"/>
              <a:t>gent 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Deploy on  AgentCore </a:t>
            </a:r>
            <a:r>
              <a:rPr lang="en-US" b="1" dirty="0"/>
              <a:t>Runtime</a:t>
            </a:r>
            <a:r>
              <a:rPr lang="en-US" sz="1200" dirty="0"/>
              <a:t>	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Integrate </a:t>
            </a:r>
            <a:r>
              <a:rPr lang="en-US" b="1" dirty="0"/>
              <a:t>Gateway</a:t>
            </a:r>
            <a:r>
              <a:rPr lang="en-US" dirty="0"/>
              <a:t> endpoints (MS private APIs)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Enable </a:t>
            </a:r>
            <a:r>
              <a:rPr lang="en-US" b="1" dirty="0"/>
              <a:t>Observability </a:t>
            </a:r>
            <a:r>
              <a:rPr lang="en-US" dirty="0"/>
              <a:t>(traces/metrics)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Enable </a:t>
            </a:r>
            <a:r>
              <a:rPr lang="en-US" b="1" dirty="0"/>
              <a:t>Evaluations</a:t>
            </a:r>
            <a:r>
              <a:rPr lang="en-US" dirty="0"/>
              <a:t> (quality baselines)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Enable A2A or MCP</a:t>
            </a:r>
          </a:p>
          <a:p>
            <a:pPr>
              <a:defRPr sz="1200">
                <a:solidFill>
                  <a:srgbClr val="4D4E53"/>
                </a:solidFill>
              </a:defRPr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Create Other Agents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endParaRPr lang="en-US" dirty="0"/>
          </a:p>
          <a:p>
            <a:pPr lvl="1">
              <a:defRPr sz="1200">
                <a:solidFill>
                  <a:srgbClr val="4D4E53"/>
                </a:solidFill>
              </a:defRPr>
            </a:pP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5257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660043" y="1939647"/>
            <a:ext cx="1489748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ASK Router</a:t>
            </a:r>
            <a:r>
              <a:rPr lang="en-US" dirty="0"/>
              <a:t> Agent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643734" y="3171400"/>
            <a:ext cx="1506057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MS Router</a:t>
            </a:r>
            <a:r>
              <a:rPr lang="en-US" dirty="0"/>
              <a:t> Agent</a:t>
            </a:r>
            <a:endParaRPr dirty="0"/>
          </a:p>
        </p:txBody>
      </p:sp>
      <p:cxnSp>
        <p:nvCxnSpPr>
          <p:cNvPr id="23" name="Connector 22"/>
          <p:cNvCxnSpPr>
            <a:cxnSpLocks/>
          </p:cNvCxnSpPr>
          <p:nvPr/>
        </p:nvCxnSpPr>
        <p:spPr>
          <a:xfrm>
            <a:off x="8149791" y="2259687"/>
            <a:ext cx="239666" cy="0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  <a:stCxn id="14" idx="3"/>
          </p:cNvCxnSpPr>
          <p:nvPr/>
        </p:nvCxnSpPr>
        <p:spPr>
          <a:xfrm>
            <a:off x="8149791" y="3491440"/>
            <a:ext cx="364716" cy="0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2BCD7028-19C7-1BD0-E478-9E6349F6230F}"/>
              </a:ext>
            </a:extLst>
          </p:cNvPr>
          <p:cNvSpPr/>
          <p:nvPr/>
        </p:nvSpPr>
        <p:spPr>
          <a:xfrm>
            <a:off x="8388350" y="1912996"/>
            <a:ext cx="20116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AgentCore Gateway</a:t>
            </a:r>
            <a:br>
              <a:rPr lang="en-US" dirty="0"/>
            </a:br>
            <a:r>
              <a:rPr lang="en-US" sz="1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0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askRouter</a:t>
            </a:r>
            <a:r>
              <a:rPr lang="en-US" sz="1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URL</a:t>
            </a:r>
            <a:endParaRPr sz="10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Rounded Rectangle 15">
            <a:extLst>
              <a:ext uri="{FF2B5EF4-FFF2-40B4-BE49-F238E27FC236}">
                <a16:creationId xmlns:a16="http://schemas.microsoft.com/office/drawing/2014/main" id="{B3727281-C229-B5C8-F212-E79436EA6CCC}"/>
              </a:ext>
            </a:extLst>
          </p:cNvPr>
          <p:cNvSpPr/>
          <p:nvPr/>
        </p:nvSpPr>
        <p:spPr>
          <a:xfrm>
            <a:off x="8514507" y="3173663"/>
            <a:ext cx="2118034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AgentCore Gateway</a:t>
            </a:r>
            <a:endParaRPr lang="en-US" dirty="0"/>
          </a:p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lang="en-US" sz="1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0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ms</a:t>
            </a:r>
            <a:r>
              <a:rPr lang="en-US" sz="1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-private-gateway URLs</a:t>
            </a:r>
            <a:endParaRPr sz="1000" dirty="0"/>
          </a:p>
        </p:txBody>
      </p:sp>
      <p:sp>
        <p:nvSpPr>
          <p:cNvPr id="36" name="Rounded Rectangle 39">
            <a:extLst>
              <a:ext uri="{FF2B5EF4-FFF2-40B4-BE49-F238E27FC236}">
                <a16:creationId xmlns:a16="http://schemas.microsoft.com/office/drawing/2014/main" id="{CB7444B0-13F4-24D8-E719-2EA2B99E25F9}"/>
              </a:ext>
            </a:extLst>
          </p:cNvPr>
          <p:cNvSpPr/>
          <p:nvPr/>
        </p:nvSpPr>
        <p:spPr>
          <a:xfrm>
            <a:off x="6699287" y="5005289"/>
            <a:ext cx="18288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Evaluations</a:t>
            </a:r>
          </a:p>
        </p:txBody>
      </p:sp>
      <p:sp>
        <p:nvSpPr>
          <p:cNvPr id="37" name="Rounded Rectangle 37">
            <a:extLst>
              <a:ext uri="{FF2B5EF4-FFF2-40B4-BE49-F238E27FC236}">
                <a16:creationId xmlns:a16="http://schemas.microsoft.com/office/drawing/2014/main" id="{1611404F-8DBF-22CE-0BEC-524F158D2AA9}"/>
              </a:ext>
            </a:extLst>
          </p:cNvPr>
          <p:cNvSpPr/>
          <p:nvPr/>
        </p:nvSpPr>
        <p:spPr>
          <a:xfrm>
            <a:off x="8803741" y="4983480"/>
            <a:ext cx="18288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Observability</a:t>
            </a: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A4560E4B-2334-AF66-4DE9-BA15ED78C5FA}"/>
              </a:ext>
            </a:extLst>
          </p:cNvPr>
          <p:cNvSpPr/>
          <p:nvPr/>
        </p:nvSpPr>
        <p:spPr>
          <a:xfrm rot="5400000">
            <a:off x="8241277" y="2502877"/>
            <a:ext cx="793719" cy="39888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E0A27-A340-705A-DB6D-FD3E21A02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D0183A-F61B-31D7-3A07-DAB5BC5EE6A1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5877DB-6B1B-5DEC-0F96-CE4E755BBC69}"/>
              </a:ext>
            </a:extLst>
          </p:cNvPr>
          <p:cNvSpPr txBox="1"/>
          <p:nvPr/>
        </p:nvSpPr>
        <p:spPr>
          <a:xfrm>
            <a:off x="685800" y="91440"/>
            <a:ext cx="921438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dirty="0"/>
              <a:t>Phase</a:t>
            </a:r>
            <a:r>
              <a:rPr dirty="0"/>
              <a:t> </a:t>
            </a:r>
            <a:r>
              <a:rPr lang="en-US" dirty="0"/>
              <a:t>4</a:t>
            </a:r>
            <a:r>
              <a:rPr dirty="0"/>
              <a:t> — </a:t>
            </a:r>
            <a:r>
              <a:rPr lang="en-US" dirty="0"/>
              <a:t>Master &amp; </a:t>
            </a:r>
            <a:r>
              <a:rPr dirty="0"/>
              <a:t>Routing pattern (Master → ASK/MS Router</a:t>
            </a:r>
            <a:r>
              <a:rPr lang="en-US" dirty="0"/>
              <a:t> Agents</a:t>
            </a:r>
            <a:r>
              <a:rPr dirty="0"/>
              <a:t>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41DD328-B0A7-EA2A-5E75-15F0CAC1584E}"/>
              </a:ext>
            </a:extLst>
          </p:cNvPr>
          <p:cNvSpPr/>
          <p:nvPr/>
        </p:nvSpPr>
        <p:spPr>
          <a:xfrm>
            <a:off x="685800" y="1234440"/>
            <a:ext cx="55778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71F5E0-F218-C409-4879-8C6872DA0395}"/>
              </a:ext>
            </a:extLst>
          </p:cNvPr>
          <p:cNvSpPr txBox="1"/>
          <p:nvPr/>
        </p:nvSpPr>
        <p:spPr>
          <a:xfrm>
            <a:off x="914400" y="1417320"/>
            <a:ext cx="512064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84A"/>
                </a:solidFill>
              </a:defRPr>
            </a:pPr>
            <a:r>
              <a:rPr dirty="0"/>
              <a:t>Scope &amp; deliverables</a:t>
            </a:r>
            <a:endParaRPr lang="en-US" dirty="0"/>
          </a:p>
          <a:p>
            <a:pPr>
              <a:defRPr sz="1600" b="1">
                <a:solidFill>
                  <a:srgbClr val="00284A"/>
                </a:solidFill>
              </a:defRPr>
            </a:pP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dirty="0"/>
              <a:t>Create</a:t>
            </a:r>
            <a:r>
              <a:rPr lang="en-US" dirty="0"/>
              <a:t> </a:t>
            </a:r>
            <a:r>
              <a:rPr lang="en-US" sz="1200" dirty="0"/>
              <a:t>Master Agent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Deploy AgentCore </a:t>
            </a:r>
            <a:r>
              <a:rPr lang="en-US" b="1" dirty="0"/>
              <a:t>Runtime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Integrate </a:t>
            </a:r>
            <a:r>
              <a:rPr lang="en-US" b="1" dirty="0"/>
              <a:t>Gateway</a:t>
            </a:r>
            <a:r>
              <a:rPr lang="en-US" dirty="0"/>
              <a:t> endpoints (ASK, MS Router Agents)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Enable </a:t>
            </a:r>
            <a:r>
              <a:rPr lang="en-US" b="1" dirty="0"/>
              <a:t>Observability </a:t>
            </a:r>
            <a:r>
              <a:rPr lang="en-US" dirty="0"/>
              <a:t>(traces/metrics)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Enable </a:t>
            </a:r>
            <a:r>
              <a:rPr lang="en-US" b="1" dirty="0"/>
              <a:t>Evaluations</a:t>
            </a:r>
            <a:r>
              <a:rPr lang="en-US" dirty="0"/>
              <a:t> (quality baselines)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Enable A2A or MCP</a:t>
            </a:r>
            <a:endParaRPr lang="en-US" sz="12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876EC9-A97E-6A08-584E-C5088F4457FE}"/>
              </a:ext>
            </a:extLst>
          </p:cNvPr>
          <p:cNvSpPr/>
          <p:nvPr/>
        </p:nvSpPr>
        <p:spPr>
          <a:xfrm>
            <a:off x="6400800" y="1234440"/>
            <a:ext cx="5257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06D7FED-E1C9-5BCA-1A94-C2E2E2D3507F}"/>
              </a:ext>
            </a:extLst>
          </p:cNvPr>
          <p:cNvSpPr/>
          <p:nvPr/>
        </p:nvSpPr>
        <p:spPr>
          <a:xfrm>
            <a:off x="6510020" y="2857500"/>
            <a:ext cx="11099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t>Master</a:t>
            </a:r>
            <a:br/>
            <a:r>
              <a:t>Agent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3940207-B6E2-0BB1-03DD-133B9B845AE6}"/>
              </a:ext>
            </a:extLst>
          </p:cNvPr>
          <p:cNvSpPr/>
          <p:nvPr/>
        </p:nvSpPr>
        <p:spPr>
          <a:xfrm>
            <a:off x="9525465" y="2281428"/>
            <a:ext cx="18288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ASK Router</a:t>
            </a:r>
            <a:r>
              <a:rPr lang="en-US" dirty="0"/>
              <a:t> Agent</a:t>
            </a:r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E7E1F29-CF50-2F0E-C38F-9EB511B8D29D}"/>
              </a:ext>
            </a:extLst>
          </p:cNvPr>
          <p:cNvSpPr/>
          <p:nvPr/>
        </p:nvSpPr>
        <p:spPr>
          <a:xfrm>
            <a:off x="9558950" y="3200400"/>
            <a:ext cx="18288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MS Router</a:t>
            </a:r>
            <a:r>
              <a:rPr lang="en-US" dirty="0"/>
              <a:t> Agent</a:t>
            </a:r>
            <a:endParaRPr dirty="0"/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C89432D5-0B9E-6211-2D75-47E800FFCC19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9008942" y="3177540"/>
            <a:ext cx="550008" cy="342900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B003C2F9-53AF-B9A7-9829-7573BFE7A7F8}"/>
              </a:ext>
            </a:extLst>
          </p:cNvPr>
          <p:cNvSpPr/>
          <p:nvPr/>
        </p:nvSpPr>
        <p:spPr>
          <a:xfrm rot="6167334">
            <a:off x="9393510" y="3427002"/>
            <a:ext cx="210348" cy="104579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15">
            <a:extLst>
              <a:ext uri="{FF2B5EF4-FFF2-40B4-BE49-F238E27FC236}">
                <a16:creationId xmlns:a16="http://schemas.microsoft.com/office/drawing/2014/main" id="{0A079B53-01C5-C23F-CB65-3A9AFCE3B6B0}"/>
              </a:ext>
            </a:extLst>
          </p:cNvPr>
          <p:cNvSpPr/>
          <p:nvPr/>
        </p:nvSpPr>
        <p:spPr>
          <a:xfrm>
            <a:off x="7949062" y="2857500"/>
            <a:ext cx="10598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AgentCore Gateway</a:t>
            </a:r>
            <a:endParaRPr sz="1000" dirty="0"/>
          </a:p>
        </p:txBody>
      </p:sp>
      <p:cxnSp>
        <p:nvCxnSpPr>
          <p:cNvPr id="32" name="Connector 20">
            <a:extLst>
              <a:ext uri="{FF2B5EF4-FFF2-40B4-BE49-F238E27FC236}">
                <a16:creationId xmlns:a16="http://schemas.microsoft.com/office/drawing/2014/main" id="{D550EA12-61F8-5E19-F609-8271DEBFD53B}"/>
              </a:ext>
            </a:extLst>
          </p:cNvPr>
          <p:cNvCxnSpPr>
            <a:cxnSpLocks/>
            <a:stCxn id="30" idx="3"/>
            <a:endCxn id="12" idx="1"/>
          </p:cNvCxnSpPr>
          <p:nvPr/>
        </p:nvCxnSpPr>
        <p:spPr>
          <a:xfrm flipV="1">
            <a:off x="9008942" y="2601468"/>
            <a:ext cx="516523" cy="598932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831400B0-FB5E-0106-EB60-338CBD5CA88B}"/>
              </a:ext>
            </a:extLst>
          </p:cNvPr>
          <p:cNvSpPr/>
          <p:nvPr/>
        </p:nvSpPr>
        <p:spPr>
          <a:xfrm rot="5400000" flipH="1">
            <a:off x="7851338" y="3125643"/>
            <a:ext cx="183887" cy="149513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97F7B14C-74CA-BA87-E8CD-921049E2809B}"/>
              </a:ext>
            </a:extLst>
          </p:cNvPr>
          <p:cNvSpPr/>
          <p:nvPr/>
        </p:nvSpPr>
        <p:spPr>
          <a:xfrm rot="5092623" flipH="1">
            <a:off x="9392098" y="2589383"/>
            <a:ext cx="213172" cy="101904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20">
            <a:extLst>
              <a:ext uri="{FF2B5EF4-FFF2-40B4-BE49-F238E27FC236}">
                <a16:creationId xmlns:a16="http://schemas.microsoft.com/office/drawing/2014/main" id="{A66EDFDB-4454-6456-7189-8EB3C9E3C70C}"/>
              </a:ext>
            </a:extLst>
          </p:cNvPr>
          <p:cNvCxnSpPr>
            <a:cxnSpLocks/>
            <a:stCxn id="10" idx="3"/>
            <a:endCxn id="30" idx="1"/>
          </p:cNvCxnSpPr>
          <p:nvPr/>
        </p:nvCxnSpPr>
        <p:spPr>
          <a:xfrm>
            <a:off x="7620000" y="3200400"/>
            <a:ext cx="329062" cy="0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37">
            <a:extLst>
              <a:ext uri="{FF2B5EF4-FFF2-40B4-BE49-F238E27FC236}">
                <a16:creationId xmlns:a16="http://schemas.microsoft.com/office/drawing/2014/main" id="{A445022B-6B0B-48E4-66E8-920BC6714665}"/>
              </a:ext>
            </a:extLst>
          </p:cNvPr>
          <p:cNvSpPr/>
          <p:nvPr/>
        </p:nvSpPr>
        <p:spPr>
          <a:xfrm>
            <a:off x="6650202" y="4986498"/>
            <a:ext cx="18288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Observability</a:t>
            </a:r>
          </a:p>
        </p:txBody>
      </p:sp>
      <p:sp>
        <p:nvSpPr>
          <p:cNvPr id="44" name="Rounded Rectangle 39">
            <a:extLst>
              <a:ext uri="{FF2B5EF4-FFF2-40B4-BE49-F238E27FC236}">
                <a16:creationId xmlns:a16="http://schemas.microsoft.com/office/drawing/2014/main" id="{3106EDE0-5225-6816-76CB-0CF8C8080C8D}"/>
              </a:ext>
            </a:extLst>
          </p:cNvPr>
          <p:cNvSpPr/>
          <p:nvPr/>
        </p:nvSpPr>
        <p:spPr>
          <a:xfrm>
            <a:off x="7171476" y="4219292"/>
            <a:ext cx="18288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Evaluations</a:t>
            </a:r>
          </a:p>
        </p:txBody>
      </p:sp>
      <p:cxnSp>
        <p:nvCxnSpPr>
          <p:cNvPr id="45" name="Connector 22">
            <a:extLst>
              <a:ext uri="{FF2B5EF4-FFF2-40B4-BE49-F238E27FC236}">
                <a16:creationId xmlns:a16="http://schemas.microsoft.com/office/drawing/2014/main" id="{4D1A5608-1AB9-F7E3-E500-9E5C98AE10A0}"/>
              </a:ext>
            </a:extLst>
          </p:cNvPr>
          <p:cNvCxnSpPr>
            <a:cxnSpLocks/>
          </p:cNvCxnSpPr>
          <p:nvPr/>
        </p:nvCxnSpPr>
        <p:spPr>
          <a:xfrm flipV="1">
            <a:off x="6781800" y="3543300"/>
            <a:ext cx="0" cy="1443198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22">
            <a:extLst>
              <a:ext uri="{FF2B5EF4-FFF2-40B4-BE49-F238E27FC236}">
                <a16:creationId xmlns:a16="http://schemas.microsoft.com/office/drawing/2014/main" id="{DEC6786E-6889-6EB7-D22B-521C935C4103}"/>
              </a:ext>
            </a:extLst>
          </p:cNvPr>
          <p:cNvCxnSpPr>
            <a:cxnSpLocks/>
          </p:cNvCxnSpPr>
          <p:nvPr/>
        </p:nvCxnSpPr>
        <p:spPr>
          <a:xfrm flipV="1">
            <a:off x="7315200" y="3543300"/>
            <a:ext cx="0" cy="675992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461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233D3-D855-AFBE-2F11-C54982EB3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A5525C-DF99-2A0F-5C66-002742A75F6E}"/>
              </a:ext>
            </a:extLst>
          </p:cNvPr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B7F07-62B8-4404-5C42-42CF0B28C49B}"/>
              </a:ext>
            </a:extLst>
          </p:cNvPr>
          <p:cNvSpPr txBox="1"/>
          <p:nvPr/>
        </p:nvSpPr>
        <p:spPr>
          <a:xfrm>
            <a:off x="685800" y="91440"/>
            <a:ext cx="534793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dirty="0"/>
              <a:t>Phase</a:t>
            </a:r>
            <a:r>
              <a:rPr dirty="0"/>
              <a:t> </a:t>
            </a:r>
            <a:r>
              <a:rPr lang="en-US" dirty="0"/>
              <a:t>5</a:t>
            </a:r>
            <a:r>
              <a:rPr dirty="0"/>
              <a:t> </a:t>
            </a:r>
            <a:r>
              <a:rPr lang="en-US" dirty="0"/>
              <a:t>— Memory &amp; Policy with Identity</a:t>
            </a:r>
            <a:endParaRPr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1E0221F-0310-DDB7-415E-AC7FD1101026}"/>
              </a:ext>
            </a:extLst>
          </p:cNvPr>
          <p:cNvSpPr/>
          <p:nvPr/>
        </p:nvSpPr>
        <p:spPr>
          <a:xfrm>
            <a:off x="685800" y="1234440"/>
            <a:ext cx="55778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95E5FF-560F-B1FC-C13A-173F7F73BDBC}"/>
              </a:ext>
            </a:extLst>
          </p:cNvPr>
          <p:cNvSpPr txBox="1"/>
          <p:nvPr/>
        </p:nvSpPr>
        <p:spPr>
          <a:xfrm>
            <a:off x="914400" y="1417320"/>
            <a:ext cx="512064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84A"/>
                </a:solidFill>
              </a:defRPr>
            </a:pPr>
            <a:r>
              <a:rPr dirty="0"/>
              <a:t>Scope &amp; deliverables</a:t>
            </a:r>
            <a:endParaRPr lang="en-US" dirty="0"/>
          </a:p>
          <a:p>
            <a:pPr>
              <a:defRPr sz="1600" b="1">
                <a:solidFill>
                  <a:srgbClr val="00284A"/>
                </a:solidFill>
              </a:defRPr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Delegate </a:t>
            </a:r>
            <a:r>
              <a:rPr lang="en-US" b="1" dirty="0"/>
              <a:t>Identity</a:t>
            </a:r>
            <a:r>
              <a:rPr lang="en-US" dirty="0"/>
              <a:t> via Master agent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Identity-based routing and delegated access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Policy across all agent/tool calls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Integrate </a:t>
            </a:r>
            <a:r>
              <a:rPr lang="en-US" b="1" dirty="0"/>
              <a:t>Memory</a:t>
            </a:r>
            <a:r>
              <a:rPr lang="en-US" dirty="0"/>
              <a:t> strategies (semantic / summarized / episodic)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Memory strategy for user preferences (custom)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D17C879-D1F0-DEC4-E787-2B38A8637720}"/>
              </a:ext>
            </a:extLst>
          </p:cNvPr>
          <p:cNvSpPr/>
          <p:nvPr/>
        </p:nvSpPr>
        <p:spPr>
          <a:xfrm>
            <a:off x="6492240" y="1234440"/>
            <a:ext cx="5257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E2AFA8-F5A2-141E-AEA1-79CC086927F9}"/>
              </a:ext>
            </a:extLst>
          </p:cNvPr>
          <p:cNvSpPr/>
          <p:nvPr/>
        </p:nvSpPr>
        <p:spPr>
          <a:xfrm>
            <a:off x="6585048" y="2857500"/>
            <a:ext cx="1034952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t>Master</a:t>
            </a:r>
            <a:br/>
            <a:r>
              <a:t>Agent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AE49997-B452-34D2-B1B0-0C27DDAEFC7C}"/>
              </a:ext>
            </a:extLst>
          </p:cNvPr>
          <p:cNvSpPr/>
          <p:nvPr/>
        </p:nvSpPr>
        <p:spPr>
          <a:xfrm>
            <a:off x="9525465" y="2281428"/>
            <a:ext cx="18288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ASK Router</a:t>
            </a:r>
            <a:r>
              <a:rPr lang="en-US" dirty="0"/>
              <a:t> Agent</a:t>
            </a:r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C608444-B485-3DB2-FF26-8BD829D265BE}"/>
              </a:ext>
            </a:extLst>
          </p:cNvPr>
          <p:cNvSpPr/>
          <p:nvPr/>
        </p:nvSpPr>
        <p:spPr>
          <a:xfrm>
            <a:off x="9558950" y="3200400"/>
            <a:ext cx="18288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MS Router</a:t>
            </a:r>
            <a:r>
              <a:rPr lang="en-US" dirty="0"/>
              <a:t> Agent</a:t>
            </a:r>
            <a:endParaRPr dirty="0"/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3943DE7F-5EE4-5856-3DDC-85EFF5EF1C74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9008942" y="3177540"/>
            <a:ext cx="550008" cy="342900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87AB3087-E6F2-D821-CCDB-4F24D0A8B3A3}"/>
              </a:ext>
            </a:extLst>
          </p:cNvPr>
          <p:cNvSpPr/>
          <p:nvPr/>
        </p:nvSpPr>
        <p:spPr>
          <a:xfrm rot="6167334">
            <a:off x="9393510" y="3427002"/>
            <a:ext cx="210348" cy="104579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15">
            <a:extLst>
              <a:ext uri="{FF2B5EF4-FFF2-40B4-BE49-F238E27FC236}">
                <a16:creationId xmlns:a16="http://schemas.microsoft.com/office/drawing/2014/main" id="{5F1D7980-55EE-4233-EBBD-2D400A35560B}"/>
              </a:ext>
            </a:extLst>
          </p:cNvPr>
          <p:cNvSpPr/>
          <p:nvPr/>
        </p:nvSpPr>
        <p:spPr>
          <a:xfrm>
            <a:off x="8004804" y="2857500"/>
            <a:ext cx="1004138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AgentCore Gateway</a:t>
            </a:r>
            <a:endParaRPr sz="1000" dirty="0"/>
          </a:p>
        </p:txBody>
      </p:sp>
      <p:cxnSp>
        <p:nvCxnSpPr>
          <p:cNvPr id="32" name="Connector 20">
            <a:extLst>
              <a:ext uri="{FF2B5EF4-FFF2-40B4-BE49-F238E27FC236}">
                <a16:creationId xmlns:a16="http://schemas.microsoft.com/office/drawing/2014/main" id="{413D9221-A0DA-99EA-D27C-A9B27D59440C}"/>
              </a:ext>
            </a:extLst>
          </p:cNvPr>
          <p:cNvCxnSpPr>
            <a:cxnSpLocks/>
            <a:stCxn id="30" idx="3"/>
            <a:endCxn id="12" idx="1"/>
          </p:cNvCxnSpPr>
          <p:nvPr/>
        </p:nvCxnSpPr>
        <p:spPr>
          <a:xfrm flipV="1">
            <a:off x="9008942" y="2601468"/>
            <a:ext cx="516523" cy="598932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3684A353-5543-0081-925D-B7601EC7EE5D}"/>
              </a:ext>
            </a:extLst>
          </p:cNvPr>
          <p:cNvSpPr/>
          <p:nvPr/>
        </p:nvSpPr>
        <p:spPr>
          <a:xfrm rot="5400000" flipH="1">
            <a:off x="7851338" y="3125643"/>
            <a:ext cx="183887" cy="149513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22A3F19B-6E31-6202-D598-36B0378DFFA1}"/>
              </a:ext>
            </a:extLst>
          </p:cNvPr>
          <p:cNvSpPr/>
          <p:nvPr/>
        </p:nvSpPr>
        <p:spPr>
          <a:xfrm rot="5092623" flipH="1">
            <a:off x="9392098" y="2589383"/>
            <a:ext cx="213172" cy="101904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20">
            <a:extLst>
              <a:ext uri="{FF2B5EF4-FFF2-40B4-BE49-F238E27FC236}">
                <a16:creationId xmlns:a16="http://schemas.microsoft.com/office/drawing/2014/main" id="{3EFF0AA6-47EF-BEDB-9362-0F3C8A237957}"/>
              </a:ext>
            </a:extLst>
          </p:cNvPr>
          <p:cNvCxnSpPr>
            <a:cxnSpLocks/>
            <a:stCxn id="10" idx="3"/>
            <a:endCxn id="30" idx="1"/>
          </p:cNvCxnSpPr>
          <p:nvPr/>
        </p:nvCxnSpPr>
        <p:spPr>
          <a:xfrm>
            <a:off x="7620000" y="3200400"/>
            <a:ext cx="384804" cy="0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E143C913-27C8-F65C-F17E-DA736E6BDC06}"/>
              </a:ext>
            </a:extLst>
          </p:cNvPr>
          <p:cNvSpPr/>
          <p:nvPr/>
        </p:nvSpPr>
        <p:spPr>
          <a:xfrm>
            <a:off x="7272266" y="3856175"/>
            <a:ext cx="20116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Policy (Preview)</a:t>
            </a:r>
          </a:p>
        </p:txBody>
      </p:sp>
      <p:sp>
        <p:nvSpPr>
          <p:cNvPr id="13" name="Rounded Rectangle 31">
            <a:extLst>
              <a:ext uri="{FF2B5EF4-FFF2-40B4-BE49-F238E27FC236}">
                <a16:creationId xmlns:a16="http://schemas.microsoft.com/office/drawing/2014/main" id="{EA3C7433-13AC-6C57-801E-7A6A4243992D}"/>
              </a:ext>
            </a:extLst>
          </p:cNvPr>
          <p:cNvSpPr/>
          <p:nvPr/>
        </p:nvSpPr>
        <p:spPr>
          <a:xfrm>
            <a:off x="6777997" y="1904545"/>
            <a:ext cx="2181055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AgentCore Identity</a:t>
            </a:r>
          </a:p>
        </p:txBody>
      </p:sp>
      <p:sp>
        <p:nvSpPr>
          <p:cNvPr id="16" name="Rounded Rectangle 31">
            <a:extLst>
              <a:ext uri="{FF2B5EF4-FFF2-40B4-BE49-F238E27FC236}">
                <a16:creationId xmlns:a16="http://schemas.microsoft.com/office/drawing/2014/main" id="{5E4499F8-4033-8AF9-1F8D-E471C69F78A3}"/>
              </a:ext>
            </a:extLst>
          </p:cNvPr>
          <p:cNvSpPr/>
          <p:nvPr/>
        </p:nvSpPr>
        <p:spPr>
          <a:xfrm>
            <a:off x="7918414" y="5152029"/>
            <a:ext cx="2181055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AgentCore</a:t>
            </a:r>
            <a:r>
              <a:rPr lang="en-US" dirty="0"/>
              <a:t> Memory</a:t>
            </a:r>
            <a:br>
              <a:rPr lang="en-US" dirty="0"/>
            </a:br>
            <a:r>
              <a:rPr lang="en-US" sz="1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with Strategies</a:t>
            </a:r>
            <a:endParaRPr sz="10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6C7E572E-9745-C0DD-5CE4-8E9D2ACD81F9}"/>
              </a:ext>
            </a:extLst>
          </p:cNvPr>
          <p:cNvSpPr/>
          <p:nvPr/>
        </p:nvSpPr>
        <p:spPr>
          <a:xfrm rot="5400000">
            <a:off x="8562192" y="2748205"/>
            <a:ext cx="793719" cy="39888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onnector 22">
            <a:extLst>
              <a:ext uri="{FF2B5EF4-FFF2-40B4-BE49-F238E27FC236}">
                <a16:creationId xmlns:a16="http://schemas.microsoft.com/office/drawing/2014/main" id="{45075BC6-131B-5E1F-C35D-223640A00BC0}"/>
              </a:ext>
            </a:extLst>
          </p:cNvPr>
          <p:cNvCxnSpPr>
            <a:cxnSpLocks/>
          </p:cNvCxnSpPr>
          <p:nvPr/>
        </p:nvCxnSpPr>
        <p:spPr>
          <a:xfrm flipV="1">
            <a:off x="7315200" y="3543300"/>
            <a:ext cx="0" cy="297180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22">
            <a:extLst>
              <a:ext uri="{FF2B5EF4-FFF2-40B4-BE49-F238E27FC236}">
                <a16:creationId xmlns:a16="http://schemas.microsoft.com/office/drawing/2014/main" id="{1E15F629-FAA4-377A-50D2-948118038C13}"/>
              </a:ext>
            </a:extLst>
          </p:cNvPr>
          <p:cNvCxnSpPr>
            <a:cxnSpLocks/>
          </p:cNvCxnSpPr>
          <p:nvPr/>
        </p:nvCxnSpPr>
        <p:spPr>
          <a:xfrm flipV="1">
            <a:off x="7391400" y="2544625"/>
            <a:ext cx="0" cy="312875"/>
          </a:xfrm>
          <a:prstGeom prst="line">
            <a:avLst/>
          </a:prstGeom>
          <a:ln w="25400">
            <a:solidFill>
              <a:srgbClr val="009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948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357020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Stage 6 — Future </a:t>
            </a:r>
            <a:r>
              <a:rPr dirty="0" err="1"/>
              <a:t>optional</a:t>
            </a:r>
            <a:r>
              <a:rPr lang="en-US" dirty="0" err="1"/>
              <a:t>s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95984" y="891540"/>
            <a:ext cx="55778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1206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84A"/>
                </a:solidFill>
              </a:defRPr>
            </a:pPr>
            <a:r>
              <a:rPr dirty="0"/>
              <a:t>Scope &amp; deliverables</a:t>
            </a:r>
            <a:endParaRPr lang="en-US" dirty="0"/>
          </a:p>
          <a:p>
            <a:pPr>
              <a:defRPr sz="1600" b="1">
                <a:solidFill>
                  <a:srgbClr val="00284A"/>
                </a:solidFill>
              </a:defRPr>
            </a:pP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Create </a:t>
            </a:r>
            <a:r>
              <a:rPr dirty="0"/>
              <a:t>S</a:t>
            </a:r>
            <a:r>
              <a:rPr lang="en-US" dirty="0"/>
              <a:t>ummarization</a:t>
            </a:r>
            <a:r>
              <a:rPr dirty="0"/>
              <a:t> Orchestrator Agent 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SQS triggered Agent for </a:t>
            </a:r>
            <a:r>
              <a:rPr lang="en-US" b="1" dirty="0"/>
              <a:t>summarizing transcripts/notes </a:t>
            </a:r>
            <a:r>
              <a:rPr lang="en-US" dirty="0"/>
              <a:t>for all summarization use cases.(MS, Field MS, </a:t>
            </a:r>
            <a:r>
              <a:rPr lang="en-US" dirty="0" err="1"/>
              <a:t>etc</a:t>
            </a:r>
            <a:r>
              <a:rPr lang="en-US" dirty="0"/>
              <a:t>) 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Triggers </a:t>
            </a:r>
            <a:r>
              <a:rPr lang="en-US" b="1" dirty="0"/>
              <a:t>step function </a:t>
            </a:r>
            <a:r>
              <a:rPr lang="en-US" dirty="0"/>
              <a:t>and perform validations based on </a:t>
            </a:r>
            <a:r>
              <a:rPr lang="en-US" b="1" dirty="0"/>
              <a:t>user identity and policy.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Create Knowledge Vectorization Agent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b="1" dirty="0"/>
              <a:t>Knowledge based vectorization </a:t>
            </a:r>
            <a:r>
              <a:rPr lang="en-US" dirty="0"/>
              <a:t>agent for data refinement, chunking, vectorization  for all uses cases like(ASK,IRG,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lang="en-US" dirty="0"/>
              <a:t>Store to </a:t>
            </a:r>
            <a:r>
              <a:rPr lang="en-US" b="1" dirty="0" err="1"/>
              <a:t>NoSql</a:t>
            </a:r>
            <a:r>
              <a:rPr lang="en-US" b="1" dirty="0"/>
              <a:t> Databases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dirty="0"/>
              <a:t>Optional: </a:t>
            </a:r>
            <a:r>
              <a:rPr b="1" dirty="0"/>
              <a:t>Memory</a:t>
            </a:r>
            <a:r>
              <a:rPr dirty="0"/>
              <a:t> for orchestration context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4D4E53"/>
                </a:solidFill>
              </a:defRPr>
            </a:pPr>
            <a:r>
              <a:rPr b="1" dirty="0"/>
              <a:t>Identity + Policy </a:t>
            </a:r>
            <a:r>
              <a:rPr dirty="0"/>
              <a:t>for non-interactive triggers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919108"/>
            <a:ext cx="5394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29400" y="1737360"/>
            <a:ext cx="15544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t>MS SQS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737360"/>
            <a:ext cx="1737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lang="en-US" dirty="0"/>
              <a:t>Summarization </a:t>
            </a:r>
            <a:r>
              <a:rPr dirty="0"/>
              <a:t>Orchestrator</a:t>
            </a:r>
            <a:br>
              <a:rPr dirty="0"/>
            </a:br>
            <a:r>
              <a:rPr dirty="0"/>
              <a:t>Agent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83879" y="2057400"/>
            <a:ext cx="365761" cy="0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8458797" y="2000318"/>
            <a:ext cx="100584" cy="100584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10287000" y="2050610"/>
            <a:ext cx="274320" cy="0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548428" y="2023872"/>
            <a:ext cx="100584" cy="100584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15199" y="2866780"/>
            <a:ext cx="1737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lang="en-US" dirty="0"/>
              <a:t>Knowledge </a:t>
            </a:r>
          </a:p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Vectorization</a:t>
            </a:r>
            <a:br>
              <a:rPr dirty="0"/>
            </a:br>
            <a:r>
              <a:rPr dirty="0"/>
              <a:t>Agent</a:t>
            </a:r>
          </a:p>
        </p:txBody>
      </p:sp>
      <p:cxnSp>
        <p:nvCxnSpPr>
          <p:cNvPr id="24" name="Connector 23"/>
          <p:cNvCxnSpPr>
            <a:cxnSpLocks/>
          </p:cNvCxnSpPr>
          <p:nvPr/>
        </p:nvCxnSpPr>
        <p:spPr>
          <a:xfrm>
            <a:off x="9148572" y="3149021"/>
            <a:ext cx="539496" cy="0"/>
          </a:xfrm>
          <a:prstGeom prst="line">
            <a:avLst/>
          </a:prstGeom>
          <a:ln w="25400">
            <a:solidFill>
              <a:srgbClr val="009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9684701" y="3095108"/>
            <a:ext cx="100584" cy="100584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33812" y="4501822"/>
            <a:ext cx="21031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t>Policy + Obs</a:t>
            </a:r>
          </a:p>
        </p:txBody>
      </p:sp>
      <p:sp>
        <p:nvSpPr>
          <p:cNvPr id="28" name="Rounded Rectangle 15">
            <a:extLst>
              <a:ext uri="{FF2B5EF4-FFF2-40B4-BE49-F238E27FC236}">
                <a16:creationId xmlns:a16="http://schemas.microsoft.com/office/drawing/2014/main" id="{D518E3D2-BFF4-5C4B-8BB6-B4B196164AF1}"/>
              </a:ext>
            </a:extLst>
          </p:cNvPr>
          <p:cNvSpPr/>
          <p:nvPr/>
        </p:nvSpPr>
        <p:spPr>
          <a:xfrm>
            <a:off x="9826737" y="2839213"/>
            <a:ext cx="10598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AgentCore Gateway</a:t>
            </a:r>
            <a:endParaRPr sz="1000" dirty="0"/>
          </a:p>
        </p:txBody>
      </p:sp>
      <p:sp>
        <p:nvSpPr>
          <p:cNvPr id="29" name="Rounded Rectangle 15">
            <a:extLst>
              <a:ext uri="{FF2B5EF4-FFF2-40B4-BE49-F238E27FC236}">
                <a16:creationId xmlns:a16="http://schemas.microsoft.com/office/drawing/2014/main" id="{392684EC-2894-CDDA-3D5A-932F02563454}"/>
              </a:ext>
            </a:extLst>
          </p:cNvPr>
          <p:cNvSpPr/>
          <p:nvPr/>
        </p:nvSpPr>
        <p:spPr>
          <a:xfrm>
            <a:off x="10669382" y="1737360"/>
            <a:ext cx="10598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F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284A"/>
                </a:solidFill>
              </a:defRPr>
            </a:pPr>
            <a:r>
              <a:rPr dirty="0"/>
              <a:t>AgentCore Gateway</a:t>
            </a:r>
            <a:endParaRPr sz="1000" dirty="0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55E1A931-0985-662E-7076-026508BDEAD5}"/>
              </a:ext>
            </a:extLst>
          </p:cNvPr>
          <p:cNvSpPr/>
          <p:nvPr/>
        </p:nvSpPr>
        <p:spPr>
          <a:xfrm rot="16200000">
            <a:off x="9084788" y="3095108"/>
            <a:ext cx="100584" cy="100584"/>
          </a:xfrm>
          <a:prstGeom prst="triangle">
            <a:avLst/>
          </a:prstGeom>
          <a:solidFill>
            <a:srgbClr val="009FB8"/>
          </a:solidFill>
          <a:ln>
            <a:solidFill>
              <a:srgbClr val="009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C104A8B4-75C2-F40D-02BF-4E4AADA5D1E6}"/>
              </a:ext>
            </a:extLst>
          </p:cNvPr>
          <p:cNvSpPr/>
          <p:nvPr/>
        </p:nvSpPr>
        <p:spPr>
          <a:xfrm rot="5400000">
            <a:off x="8709039" y="1523595"/>
            <a:ext cx="793719" cy="5105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Appendix — Original AgentCore slide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858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284A"/>
                </a:solidFill>
              </a:defRPr>
            </a:pPr>
            <a:r>
              <a:t>Embedded to ensure no content is lost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agentcore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577339"/>
            <a:ext cx="457200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D4E53"/>
                </a:solidFill>
              </a:defRPr>
            </a:pPr>
            <a:r>
              <a:rPr dirty="0"/>
              <a:t>Source: </a:t>
            </a:r>
            <a:r>
              <a:rPr dirty="0" err="1"/>
              <a:t>AgentCore.pptx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3F6B"/>
          </a:solidFill>
          <a:ln>
            <a:solidFill>
              <a:srgbClr val="00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Appendix — Original AgentCore slide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858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284A"/>
                </a:solidFill>
              </a:defRPr>
            </a:pPr>
            <a:r>
              <a:t>Embedded to ensure no content is lost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agentcore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1791493"/>
            <a:ext cx="10424160" cy="41436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D4E53"/>
                </a:solidFill>
              </a:defRPr>
            </a:pPr>
            <a:r>
              <a:rPr dirty="0"/>
              <a:t>Source: </a:t>
            </a:r>
            <a:r>
              <a:rPr dirty="0" err="1"/>
              <a:t>AgentCore.pptx</a:t>
            </a:r>
            <a:endParaRPr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6rY1hLW9"/>
  <p:tag name="ARTICULATE_DESIGN_ID_BRIGHTCARBON TOOLKIT 2020" val="iNRbfktn"/>
  <p:tag name="ARTICULATE_SLIDE_COUNT" val="30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Ameriprise Financial Branded">
  <a:themeElements>
    <a:clrScheme name="Ameriprise 2.0">
      <a:dk1>
        <a:srgbClr val="000000"/>
      </a:dk1>
      <a:lt1>
        <a:srgbClr val="FFFFFF"/>
      </a:lt1>
      <a:dk2>
        <a:srgbClr val="00284A"/>
      </a:dk2>
      <a:lt2>
        <a:srgbClr val="44A29A"/>
      </a:lt2>
      <a:accent1>
        <a:srgbClr val="003F6B"/>
      </a:accent1>
      <a:accent2>
        <a:srgbClr val="E3780D"/>
      </a:accent2>
      <a:accent3>
        <a:srgbClr val="009FB8"/>
      </a:accent3>
      <a:accent4>
        <a:srgbClr val="972364"/>
      </a:accent4>
      <a:accent5>
        <a:srgbClr val="BDD753"/>
      </a:accent5>
      <a:accent6>
        <a:srgbClr val="462C67"/>
      </a:accent6>
      <a:hlink>
        <a:srgbClr val="025B97"/>
      </a:hlink>
      <a:folHlink>
        <a:srgbClr val="007886"/>
      </a:folHlink>
    </a:clrScheme>
    <a:fontScheme name="Ameriprise">
      <a:majorFont>
        <a:latin typeface="Roboto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eriprise (recommended size) 16x9" id="{5D98FCDA-0B16-440B-B906-9811D8AA4C2D}" vid="{A9221386-7D5B-4571-8EC5-A11AD3E13102}"/>
    </a:ext>
  </a:extLst>
</a:theme>
</file>

<file path=ppt/theme/theme2.xml><?xml version="1.0" encoding="utf-8"?>
<a:theme xmlns:a="http://schemas.openxmlformats.org/drawingml/2006/main" name="Office Theme">
  <a:themeElements>
    <a:clrScheme name="BrightCarbon Toolkit">
      <a:dk1>
        <a:srgbClr val="243837"/>
      </a:dk1>
      <a:lt1>
        <a:srgbClr val="FFFFFF"/>
      </a:lt1>
      <a:dk2>
        <a:srgbClr val="243837"/>
      </a:dk2>
      <a:lt2>
        <a:srgbClr val="F2F6F9"/>
      </a:lt2>
      <a:accent1>
        <a:srgbClr val="578A19"/>
      </a:accent1>
      <a:accent2>
        <a:srgbClr val="97BFC1"/>
      </a:accent2>
      <a:accent3>
        <a:srgbClr val="BFB4D0"/>
      </a:accent3>
      <a:accent4>
        <a:srgbClr val="004868"/>
      </a:accent4>
      <a:accent5>
        <a:srgbClr val="F96F5D"/>
      </a:accent5>
      <a:accent6>
        <a:srgbClr val="F19C79"/>
      </a:accent6>
      <a:hlink>
        <a:srgbClr val="0563C1"/>
      </a:hlink>
      <a:folHlink>
        <a:srgbClr val="954F72"/>
      </a:folHlink>
    </a:clrScheme>
    <a:fontScheme name="BrightCarbon Toolkit">
      <a:majorFont>
        <a:latin typeface="Arial Black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6DADFDEC37BD4DAA6D3354747803FF" ma:contentTypeVersion="3" ma:contentTypeDescription="Create a new document." ma:contentTypeScope="" ma:versionID="f0e9f59744ddbe5c5c177de991de08ff">
  <xsd:schema xmlns:xsd="http://www.w3.org/2001/XMLSchema" xmlns:xs="http://www.w3.org/2001/XMLSchema" xmlns:p="http://schemas.microsoft.com/office/2006/metadata/properties" xmlns:ns2="16c996b4-d5b8-4583-96b8-fdf338ecf5f0" targetNamespace="http://schemas.microsoft.com/office/2006/metadata/properties" ma:root="true" ma:fieldsID="ca27d13d74832bb3d727ddd521d6ad26" ns2:_="">
    <xsd:import namespace="16c996b4-d5b8-4583-96b8-fdf338ecf5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996b4-d5b8-4583-96b8-fdf338ecf5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F8476F7-C756-448F-91E4-F8EDE6948F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c996b4-d5b8-4583-96b8-fdf338ecf5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C4F214-170D-496D-8FB8-E6B3A035EF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226632-FE42-4C7F-8076-497FE08BF6FA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36d46430-3052-4385-9ad6-1660f5c38756"/>
    <ds:schemaRef ds:uri="http://schemas.microsoft.com/office/infopath/2007/PartnerControls"/>
    <ds:schemaRef ds:uri="236699d3-953c-4dd2-be89-7a5f893a33ff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Privilege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</TotalTime>
  <Words>1874</Words>
  <Application>Microsoft Macintosh PowerPoint</Application>
  <PresentationFormat>Widescreen</PresentationFormat>
  <Paragraphs>299</Paragraphs>
  <Slides>20</Slides>
  <Notes>3</Notes>
  <HiddenSlides>9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Roboto</vt:lpstr>
      <vt:lpstr>Times New Roman</vt:lpstr>
      <vt:lpstr>Arial</vt:lpstr>
      <vt:lpstr>Roboto Light</vt:lpstr>
      <vt:lpstr>Aptos</vt:lpstr>
      <vt:lpstr>Ameriprise Financial Branded</vt:lpstr>
      <vt:lpstr>AWS Bedrock AgentCore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Ameriprise Financial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Meel, sarvagya</cp:lastModifiedBy>
  <cp:revision>20</cp:revision>
  <dcterms:created xsi:type="dcterms:W3CDTF">2026-01-29T12:13:53Z</dcterms:created>
  <dcterms:modified xsi:type="dcterms:W3CDTF">2026-02-24T14:25:20Z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E23D087A-DA2F-4136-BC75-2757DD908ADA</vt:lpwstr>
  </property>
  <property fmtid="{D5CDD505-2E9C-101B-9397-08002B2CF9AE}" pid="3" name="ArticulatePath">
    <vt:lpwstr>Presentation1</vt:lpwstr>
  </property>
  <property fmtid="{D5CDD505-2E9C-101B-9397-08002B2CF9AE}" pid="4" name="ContentTypeId">
    <vt:lpwstr>0x0101006F6DADFDEC37BD4DAA6D3354747803FF</vt:lpwstr>
  </property>
  <property fmtid="{D5CDD505-2E9C-101B-9397-08002B2CF9AE}" pid="5" name="MediaServiceImageTags">
    <vt:lpwstr/>
  </property>
</Properties>
</file>